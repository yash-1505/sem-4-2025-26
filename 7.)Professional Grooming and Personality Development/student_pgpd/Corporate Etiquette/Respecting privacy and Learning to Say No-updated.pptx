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embeddedFontLs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Abril Fatface" panose="020B0604020202020204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iJwHX47wh5WqMNydNYmUpus4H0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82856cc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82856ccc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3a182856ccc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82856ccc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182856ccc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a182856ccc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82856cc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182856ccc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a182856ccc_0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82856cc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82856ccc_0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a182856ccc_0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82856ccc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182856ccc_0_1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3a182856ccc_0_1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182856ccc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182856ccc_0_1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a182856ccc_0_1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182856cc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182856ccc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g3a182856ccc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182856cc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182856ccc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a182856ccc_0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182856cc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182856ccc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3a182856ccc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182856cc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182856ccc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a182856ccc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182856cc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182856ccc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g3a182856ccc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182856cc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a182856ccc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g3a182856ccc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182856cc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182856ccc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a182856ccc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182856cc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182856ccc_0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a182856ccc_0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182856ccc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182856ccc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a182856ccc_0_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182856cc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182856ccc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a182856ccc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182856ccc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a182856ccc_0_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3a182856ccc_0_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018be98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018be985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a018be985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9" name="Google Shape;389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bout 1">
  <p:cSld name="About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avLst/>
            <a:gdLst/>
            <a:ahLst/>
            <a:cxnLst/>
            <a:rect l="l" t="t" r="r" b="b"/>
            <a:pathLst>
              <a:path w="4572000" h="2285974" extrusionOk="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>
            <a:spLocks noGrp="1"/>
          </p:cNvSpPr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8"/>
          <p:cNvSpPr txBox="1">
            <a:spLocks noGrp="1"/>
          </p:cNvSpPr>
          <p:nvPr>
            <p:ph type="body" idx="1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8"/>
          <p:cNvSpPr txBox="1">
            <a:spLocks noGrp="1"/>
          </p:cNvSpPr>
          <p:nvPr>
            <p:ph type="sldNum" idx="12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5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5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5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and Content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avLst/>
            <a:gdLst/>
            <a:ahLst/>
            <a:cxnLst/>
            <a:rect l="l" t="t" r="r" b="b"/>
            <a:pathLst>
              <a:path w="4572000" h="2285974" extrusionOk="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avLst/>
            <a:gdLst/>
            <a:ahLst/>
            <a:cxnLst/>
            <a:rect l="l" t="t" r="r" b="b"/>
            <a:pathLst>
              <a:path w="3200357" h="3200320" extrusionOk="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sldNum" idx="12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1"/>
          <p:cNvSpPr txBox="1"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31"/>
          <p:cNvSpPr txBox="1">
            <a:spLocks noGrp="1"/>
          </p:cNvSpPr>
          <p:nvPr>
            <p:ph type="dt" idx="10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1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1"/>
          <p:cNvSpPr txBox="1">
            <a:spLocks noGrp="1"/>
          </p:cNvSpPr>
          <p:nvPr>
            <p:ph type="sldNum" idx="12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2"/>
          <p:cNvSpPr txBox="1"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body" idx="1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body" idx="2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3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3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3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body" idx="2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body" idx="4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4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4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4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5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35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5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7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7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38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8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8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body" idx="1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9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39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9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40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avLst/>
            <a:gdLst/>
            <a:ahLst/>
            <a:cxnLst/>
            <a:rect l="l" t="t" r="r" b="b"/>
            <a:pathLst>
              <a:path w="3352193" h="3125440" extrusionOk="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>
            <a:spLocks noGrp="1"/>
          </p:cNvSpPr>
          <p:nvPr>
            <p:ph type="ftr" idx="11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 b="0" i="0" u="none" strike="noStrike" cap="non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dt" idx="10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7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vU2Uu0poJQ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www.youtube.com/watch?v=8Xtq2eFjN3Q" TargetMode="External"/><Relationship Id="rId4" Type="http://schemas.openxmlformats.org/officeDocument/2006/relationships/hyperlink" Target="https://www.youtube.com/watch?v=Kc8G8JvP3pI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uF2QcJ3jvI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www.youtube.com/watch?v=9Fq_2wKk8d4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Etiquettes</a:t>
            </a:r>
            <a:endParaRPr sz="4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Respecting Privacy and Learning to Say 'No’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(Assessing Requests, Delivering Well-Reasoned Responses, and Knowing When to Say 'Yes')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112" name="Google Shape;112;p43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students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Learn to assess the ask before responding.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Understand how to clarify offers and expectations.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Practice delivering a well-reasoned 'No' effectively.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Identify situations where it is appropriate to say 'Yes.'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Develop skills for assertive communication while respecting privacy.</a:t>
            </a:r>
            <a:endParaRPr/>
          </a:p>
        </p:txBody>
      </p:sp>
      <p:pic>
        <p:nvPicPr>
          <p:cNvPr id="113" name="Google Shape;113;p4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3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82856ccc_0_1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5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 sz="53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a182856ccc_0_1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Deliver a well reasoned No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say yes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a182856ccc_0_1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cxnSp>
        <p:nvCxnSpPr>
          <p:cNvPr id="123" name="Google Shape;123;g3a182856ccc_0_1"/>
          <p:cNvCxnSpPr/>
          <p:nvPr/>
        </p:nvCxnSpPr>
        <p:spPr>
          <a:xfrm>
            <a:off x="1015989" y="133281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4" name="Google Shape;124;g3a182856ccc_0_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182856ccc_0_100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182856ccc_0_100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</a:rPr>
              <a:t>I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today’s professional world, success depends not only on skills and knowledge but also on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interpersonal etiquette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Etiquettes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form the foundation of positive workplace relationships, fostering respect, trust, and professionalism.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key aspect of this is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respecting privacy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understanding boundaries, maintaining confidentiality, and valuing personal space.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a182856ccc_0_100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33" name="Google Shape;133;g3a182856ccc_0_10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g3a182856ccc_0_100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82856ccc_0_108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41" name="Google Shape;141;g3a182856ccc_0_108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Equally important is the ability to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 'No' effectively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a vital skill that helps professionals manage time, workload, and ethical decisions.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to say 'No' with reasoning teaches one to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 requests thoughtfully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 assertively yet respectfully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balance between cooperation and self-respect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a182856ccc_0_108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3" name="Google Shape;143;g3a182856ccc_0_108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g3a182856ccc_0_108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182856ccc_0_115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51" name="Google Shape;151;g3a182856ccc_0_115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Knowing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to say 'Yes'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when to decline ensures fairness, productivity, and emotional well-being in the workplace.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Together, these etiquettes contribute to a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harmonious, ethical, and high-performing corporate environment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a182856ccc_0_115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3" name="Google Shape;153;g3a182856ccc_0_115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g3a182856ccc_0_115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182856ccc_0_122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Learning to Say 'No' Professionally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a182856ccc_0_122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lvl="0" indent="-39306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Saying “No” is not negative — it’s a sign of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clarity and confidence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0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in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workload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maintaining quality performance.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0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Encourages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assertiveness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without being rude or disrespectful.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0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Strengthens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boundaries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decision-making.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a182856ccc_0_122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63" name="Google Shape;163;g3a182856ccc_0_122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g3a182856ccc_0_122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6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Clarify the Offer</a:t>
            </a:r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Confirm what is being asked of you.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Seek details if instructions or expectations are unclear.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Ensure both parties are aligned before responding.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Example: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'I’d like you to lead the presentation.' → 'Could you specify the duration and audience?'</a:t>
            </a:r>
            <a:endParaRPr/>
          </a:p>
        </p:txBody>
      </p:sp>
      <p:pic>
        <p:nvPicPr>
          <p:cNvPr id="171" name="Google Shape;171;p4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46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5"/>
          <p:cNvSpPr txBox="1">
            <a:spLocks noGrp="1"/>
          </p:cNvSpPr>
          <p:nvPr>
            <p:ph type="title"/>
          </p:nvPr>
        </p:nvSpPr>
        <p:spPr>
          <a:xfrm>
            <a:off x="410012" y="337448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sz="48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Assessing Requests Before Responding</a:t>
            </a:r>
            <a:endParaRPr sz="4800" b="1" dirty="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endParaRPr sz="48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5"/>
          <p:cNvSpPr txBox="1">
            <a:spLocks noGrp="1"/>
          </p:cNvSpPr>
          <p:nvPr>
            <p:ph type="body" idx="1"/>
          </p:nvPr>
        </p:nvSpPr>
        <p:spPr>
          <a:xfrm>
            <a:off x="918825" y="1916248"/>
            <a:ext cx="10192200" cy="47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Evaluate if the request aligns with your </a:t>
            </a:r>
            <a:r>
              <a:rPr lang="en-US" sz="1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 and responsibilities</a:t>
            </a: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</a:t>
            </a:r>
            <a:r>
              <a:rPr lang="en-US" sz="1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time, resources, and priorities</a:t>
            </a: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committing.</a:t>
            </a: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if the request is </a:t>
            </a:r>
            <a:r>
              <a:rPr lang="en-US" sz="11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ethical and feasible</a:t>
            </a: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1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 on whether saying “Yes” supports your goals or causes stress.</a:t>
            </a:r>
            <a:endParaRPr sz="1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200" dirty="0">
                <a:latin typeface="Calibri"/>
                <a:ea typeface="Calibri"/>
                <a:cs typeface="Calibri"/>
                <a:sym typeface="Calibri"/>
              </a:rPr>
              <a:t>• Example:</a:t>
            </a:r>
            <a:endParaRPr sz="112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200" dirty="0">
                <a:latin typeface="Calibri"/>
                <a:ea typeface="Calibri"/>
                <a:cs typeface="Calibri"/>
                <a:sym typeface="Calibri"/>
              </a:rPr>
              <a:t>'Can you finish this task today?' → 'Can you clarify the priority and deadline?'</a:t>
            </a:r>
            <a:endParaRPr sz="11200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45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45"/>
          <p:cNvCxnSpPr/>
          <p:nvPr/>
        </p:nvCxnSpPr>
        <p:spPr>
          <a:xfrm>
            <a:off x="1075939" y="1672800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7"/>
          <p:cNvSpPr txBox="1">
            <a:spLocks noGrp="1"/>
          </p:cNvSpPr>
          <p:nvPr>
            <p:ph type="title"/>
          </p:nvPr>
        </p:nvSpPr>
        <p:spPr>
          <a:xfrm>
            <a:off x="994875" y="442572"/>
            <a:ext cx="102021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How to Deliver a Well-Reasoned 'No'</a:t>
            </a:r>
            <a:endParaRPr/>
          </a:p>
        </p:txBody>
      </p:sp>
      <p:sp>
        <p:nvSpPr>
          <p:cNvPr id="186" name="Google Shape;186;p47"/>
          <p:cNvSpPr txBox="1">
            <a:spLocks noGrp="1"/>
          </p:cNvSpPr>
          <p:nvPr>
            <p:ph type="body" idx="1"/>
          </p:nvPr>
        </p:nvSpPr>
        <p:spPr>
          <a:xfrm>
            <a:off x="914400" y="1768587"/>
            <a:ext cx="10192200" cy="41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Steps:</a:t>
            </a:r>
            <a:endParaRPr sz="280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Be polite and professional.</a:t>
            </a:r>
            <a:endParaRPr sz="2800"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State the reason clearly and factually.</a:t>
            </a:r>
            <a:endParaRPr sz="2800"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Offer an alternative if possible.</a:t>
            </a:r>
            <a:endParaRPr sz="2800"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Maintain a positive tone.</a:t>
            </a:r>
            <a:endParaRPr sz="2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80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'I’m currently managing another high-priority task and won’t be able to complete this today. Could I help you tomorrow instead?'</a:t>
            </a:r>
            <a:endParaRPr sz="2800"/>
          </a:p>
        </p:txBody>
      </p:sp>
      <p:pic>
        <p:nvPicPr>
          <p:cNvPr id="187" name="Google Shape;187;p47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47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8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When to Say 'Yes'</a:t>
            </a:r>
            <a:endParaRPr/>
          </a:p>
        </p:txBody>
      </p:sp>
      <p:sp>
        <p:nvSpPr>
          <p:cNvPr id="194" name="Google Shape;194;p48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Say 'Yes' when you can meet the request without compromising other priorities.</a:t>
            </a:r>
            <a:endParaRPr sz="2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Accept when it aligns with your role, goals, or development opportunities.</a:t>
            </a:r>
            <a:endParaRPr sz="2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Ensure clarity on expectations before agreeing.</a:t>
            </a:r>
            <a:endParaRPr sz="2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8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'Yes, I can handle this report and will submit it by the end of the day.'</a:t>
            </a:r>
            <a:endParaRPr sz="2800"/>
          </a:p>
        </p:txBody>
      </p:sp>
      <p:pic>
        <p:nvPicPr>
          <p:cNvPr id="195" name="Google Shape;195;p48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48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182856ccc_0_131"/>
          <p:cNvSpPr txBox="1">
            <a:spLocks noGrp="1"/>
          </p:cNvSpPr>
          <p:nvPr>
            <p:ph type="title"/>
          </p:nvPr>
        </p:nvSpPr>
        <p:spPr>
          <a:xfrm>
            <a:off x="908775" y="590375"/>
            <a:ext cx="10202100" cy="1331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Tips for Maintaining Professional Boundaries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a182856ccc_0_131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consistent and respectful when asserting limits.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over-explaining your “No.”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empathy while refusing — acknowledge the other person’s situation.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97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to manage guilt — remember that self-respect supports professionalism.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a182856ccc_0_131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05" name="Google Shape;205;g3a182856ccc_0_13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g3a182856ccc_0_131"/>
          <p:cNvCxnSpPr/>
          <p:nvPr/>
        </p:nvCxnSpPr>
        <p:spPr>
          <a:xfrm>
            <a:off x="1075939" y="124423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g3a182856ccc_0_131"/>
          <p:cNvCxnSpPr/>
          <p:nvPr/>
        </p:nvCxnSpPr>
        <p:spPr>
          <a:xfrm>
            <a:off x="914389" y="2038362"/>
            <a:ext cx="3343200" cy="51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0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/>
          </a:p>
        </p:txBody>
      </p:sp>
      <p:sp>
        <p:nvSpPr>
          <p:cNvPr id="221" name="Google Shape;221;p50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Role-Play Exercises: Practice saying 'No' with reasoning.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Group Discussion: Identify tricky scenarios and appropriate responses.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Case Studies: Analyze workplace situations for boundary-setting.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Reflection Activity: Journal personal experiences and strategies.</a:t>
            </a:r>
            <a:endParaRPr/>
          </a:p>
        </p:txBody>
      </p:sp>
      <p:pic>
        <p:nvPicPr>
          <p:cNvPr id="222" name="Google Shape;222;p5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50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182856ccc_0_11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Role-Play Exercises — Practicing “No” with Reasoning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a182856ccc_0_11"/>
          <p:cNvSpPr txBox="1">
            <a:spLocks noGrp="1"/>
          </p:cNvSpPr>
          <p:nvPr>
            <p:ph type="body" idx="1"/>
          </p:nvPr>
        </p:nvSpPr>
        <p:spPr>
          <a:xfrm>
            <a:off x="1219200" y="1916387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structured role-play activities that teach learners to refuse requests politely, assertively, and with clear reasoning. These exercises develop communication skills, boundary-setting, confidence, and emotional intelligence.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a182856ccc_0_11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32" name="Google Shape;232;g3a182856ccc_0_1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g3a182856ccc_0_11"/>
          <p:cNvCxnSpPr/>
          <p:nvPr/>
        </p:nvCxnSpPr>
        <p:spPr>
          <a:xfrm>
            <a:off x="1075939" y="1244237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4" name="Google Shape;234;g3a182856ccc_0_11"/>
          <p:cNvCxnSpPr/>
          <p:nvPr/>
        </p:nvCxnSpPr>
        <p:spPr>
          <a:xfrm>
            <a:off x="1153614" y="1916387"/>
            <a:ext cx="4463100" cy="372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182856ccc_0_20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Suggested Group Size &amp; Time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a182856ccc_0_20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Ideal group size: pairs or triads (3–6 in a small group).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Time per exercise: 8–12 minutes (3 min setup/briefing, 3–5 min role-play, 2–4 min feedback).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Total session: 60–90 minutes for 6–8 role-plays with discussion and reflection.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g3a182856ccc_0_20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43" name="Google Shape;243;g3a182856ccc_0_20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g3a182856ccc_0_20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82856ccc_0_29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Warm-up (5–8 minutes)</a:t>
            </a:r>
            <a:endParaRPr sz="4800">
              <a:solidFill>
                <a:schemeClr val="accent1"/>
              </a:solidFill>
            </a:endParaRPr>
          </a:p>
        </p:txBody>
      </p:sp>
      <p:sp>
        <p:nvSpPr>
          <p:cNvPr id="251" name="Google Shape;251;g3a182856ccc_0_29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Quick discussion: When is it hard for you to say "No"? (2 minutes)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one short phrase for refusal (e.g., "I can’t right now", "I have other commitments").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Instructor models three styles: direct, empathic, and delayed refusal.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a182856ccc_0_29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53" name="Google Shape;253;g3a182856ccc_0_29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4" name="Google Shape;254;g3a182856ccc_0_29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182856ccc_0_37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Structure of Each Role-Play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a182856ccc_0_37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Read the scenario aloud.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Choose: Requester / Respondent / Observer (optional).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 for Respondent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Say "No" with a reason and keep the interaction professional.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Time limit, allowed to use notes, must include at least one empathic statement.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Observer gives 2 strengths + 1 area for improvement.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a182856ccc_0_37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63" name="Google Shape;263;g3a182856ccc_0_37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g3a182856ccc_0_37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182856ccc_0_45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highlight>
                  <a:schemeClr val="lt2"/>
                </a:highlight>
                <a:latin typeface="Calibri"/>
                <a:ea typeface="Calibri"/>
                <a:cs typeface="Calibri"/>
                <a:sym typeface="Calibri"/>
              </a:rPr>
              <a:t>Techniques &amp; Phrases to Practice</a:t>
            </a:r>
            <a:endParaRPr sz="4800">
              <a:solidFill>
                <a:schemeClr val="accent1"/>
              </a:solidFill>
              <a:highlight>
                <a:schemeClr val="lt2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a182856ccc_0_45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endParaRPr sz="1700" b="1">
              <a:solidFill>
                <a:schemeClr val="dk1"/>
              </a:solidFill>
            </a:endParaRPr>
          </a:p>
          <a:p>
            <a:pPr marL="457200" lvl="0" indent="-390525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but polite: "I can’t take that on right now because…"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05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Empathic + refusal: "I understand this is important, but I’m unable to…"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05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Delayed refusal: "I can’t commit now — can I get back to you by [time]?"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05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offering: "I can’t do X, but I can help with Y."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05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Boundary statement: "I don’t do [task] outside work hours."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05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and firm: "No, thank you." (use when minimal explanation is appropriate)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g3a182856ccc_0_45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73" name="Google Shape;273;g3a182856ccc_0_45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g3a182856ccc_0_45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182856ccc_0_53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Role-Play Scenarios 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3a182856ccc_0_53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 Extra Work Request — At the End of Day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colleague asks you to finish their report by tomorrow though you already have several deadlines.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 goal: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Decline, give a clear reason (workload/deadline), offer an alternative if possible.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lines: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Requester: "Can you finish my report by tomorrow? I’m swamped."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a182856ccc_0_53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83" name="Google Shape;283;g3a182856ccc_0_5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g3a182856ccc_0_53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182856ccc_0_61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a182856ccc_0_61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Respondent: "I’m sorry, I can’t — I have two deadlines tomorrow. I can review it on Friday afternoon or help break it into smaller parts."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Pushback practice: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Requester pressures: "But it’ll only take an hour." Respondent practices repeating boundary and short reason.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3a182856ccc_0_61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93" name="Google Shape;293;g3a182856ccc_0_6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182856ccc_0_68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2) Unpaid Personal Favor from a Friend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a182856ccc_0_68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friend asks you to lend them money or cover an advance you can’t afford.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 goal: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Refuse without damaging the friendship; provide an honest but brief reason.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lines: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Respondent: "I wish I could help, but I’m not in a position to lend money right now. I’m happy to help you find other resources."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Variation: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Offer non-monetary help (e.g., budgeting resources).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3a182856ccc_0_68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02" name="Google Shape;302;g3a182856ccc_0_68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3" name="Google Shape;303;g3a182856ccc_0_68"/>
          <p:cNvCxnSpPr/>
          <p:nvPr/>
        </p:nvCxnSpPr>
        <p:spPr>
          <a:xfrm>
            <a:off x="1045539" y="1598862"/>
            <a:ext cx="9906600" cy="417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182856ccc_0_76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3. Manager Asks for Unreasonable Deadline Change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a182856ccc_0_76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Manager wants you to change priorities and finish a project sooner, risking quality.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 goal: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Refuse or renegotiate with reasoning about quality and timeline. </a:t>
            </a: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lines: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Respondent: "I understand the urgency, but moving the deadline compromises testing. If we keep the current timeline, we’ll ensure quality. If the deadline must move, I’ll need support X (extra resource/time)."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a182856ccc_0_76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12" name="Google Shape;312;g3a182856ccc_0_7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g3a182856ccc_0_76"/>
          <p:cNvCxnSpPr/>
          <p:nvPr/>
        </p:nvCxnSpPr>
        <p:spPr>
          <a:xfrm>
            <a:off x="1075939" y="1140687"/>
            <a:ext cx="8738100" cy="270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4" name="Google Shape;314;g3a182856ccc_0_76"/>
          <p:cNvCxnSpPr/>
          <p:nvPr/>
        </p:nvCxnSpPr>
        <p:spPr>
          <a:xfrm>
            <a:off x="1075950" y="2017962"/>
            <a:ext cx="5273400" cy="780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182856ccc_0_84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Observers’ Feedback Guide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a182856ccc_0_84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Start with 2 strengths (what the respondent did well).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Give 1 actionable improvement (tone, clarity, alternative, or body language).</a:t>
            </a:r>
            <a:endParaRPr sz="2800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Note whether the respondent repeated their boundary when pressured.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g3a182856ccc_0_84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323" name="Google Shape;323;g3a182856ccc_0_8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4" name="Google Shape;324;g3a182856ccc_0_84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182856ccc_0_92"/>
          <p:cNvSpPr txBox="1">
            <a:spLocks noGrp="1"/>
          </p:cNvSpPr>
          <p:nvPr>
            <p:ph type="title"/>
          </p:nvPr>
        </p:nvSpPr>
        <p:spPr>
          <a:xfrm>
            <a:off x="994950" y="590247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Reflection Prompts (Post-Role-Play)</a:t>
            </a:r>
            <a:endParaRPr sz="4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a182856ccc_0_92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>
              <a:solidFill>
                <a:schemeClr val="dk1"/>
              </a:solidFill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did it feel to say "No"?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phrase felt most natural?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pushback was hardest to handle and why?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you do differently next time?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a182856ccc_0_92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333" name="Google Shape;333;g3a182856ccc_0_92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g3a182856ccc_0_92"/>
          <p:cNvCxnSpPr/>
          <p:nvPr/>
        </p:nvCxnSpPr>
        <p:spPr>
          <a:xfrm>
            <a:off x="1219189" y="1692862"/>
            <a:ext cx="9064200" cy="1008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340" name="Google Shape;340;p51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Covey, S. R. (2020). The 7 Habits of Highly Effective People.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Carnegie, D. (2019). How to Win Friends and Influence People.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MindTools. (2024). Assertiveness and Boundary-Setting in the Workplace.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Harvard Business Review. Negotiation Skills for Professionals.</a:t>
            </a:r>
            <a:endParaRPr/>
          </a:p>
        </p:txBody>
      </p:sp>
      <p:pic>
        <p:nvPicPr>
          <p:cNvPr id="341" name="Google Shape;341;p51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51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/>
          </a:p>
        </p:txBody>
      </p:sp>
      <p:sp>
        <p:nvSpPr>
          <p:cNvPr id="348" name="Google Shape;348;p52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How to Say No at Work Politely –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</a:t>
            </a:r>
            <a:r>
              <a:rPr lang="en-US" sz="2800" dirty="0" smtClean="0">
                <a:latin typeface="Calibri"/>
                <a:ea typeface="Calibri"/>
                <a:cs typeface="Calibri"/>
                <a:sym typeface="Calibri"/>
                <a:hlinkClick r:id="rId3"/>
              </a:rPr>
              <a:t>www.youtube.com/watch?v=0vU2Uu0poJQ</a:t>
            </a:r>
            <a:endParaRPr lang="en-US" sz="2800" dirty="0" smtClean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Assess Requests and Deliver Responses –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</a:t>
            </a:r>
            <a:r>
              <a:rPr lang="en-US" sz="2800" dirty="0" smtClean="0">
                <a:latin typeface="Calibri"/>
                <a:ea typeface="Calibri"/>
                <a:cs typeface="Calibri"/>
                <a:sym typeface="Calibri"/>
                <a:hlinkClick r:id="rId4"/>
              </a:rPr>
              <a:t>www.youtube.com/watch?v=Kc8G8JvP3pI</a:t>
            </a:r>
            <a:endParaRPr lang="en-US" sz="2800" dirty="0" smtClean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Clarifying Expectations in Workplace Communication –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</a:t>
            </a:r>
            <a:r>
              <a:rPr lang="en-US" sz="2800" dirty="0" smtClean="0">
                <a:latin typeface="Calibri"/>
                <a:ea typeface="Calibri"/>
                <a:cs typeface="Calibri"/>
                <a:sym typeface="Calibri"/>
                <a:hlinkClick r:id="rId5"/>
              </a:rPr>
              <a:t>www.youtube.com/watch?v=8Xtq2eFjN3Q</a:t>
            </a:r>
            <a:endParaRPr lang="en-US" sz="2800" dirty="0" smtClean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  <a:p>
            <a:pPr marL="45720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/>
          </a:p>
        </p:txBody>
      </p:sp>
      <p:pic>
        <p:nvPicPr>
          <p:cNvPr id="349" name="Google Shape;349;p52" descr="cdc logo png black (1)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52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018be9850_0_0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100" cy="1326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/>
          </a:p>
        </p:txBody>
      </p:sp>
      <p:sp>
        <p:nvSpPr>
          <p:cNvPr id="357" name="Google Shape;357;g3a018be9850_0_0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200" cy="413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Professional Communication: Saying No Effectively –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</a:t>
            </a:r>
            <a:r>
              <a:rPr lang="en-US" sz="2800" dirty="0" smtClean="0">
                <a:latin typeface="Calibri"/>
                <a:ea typeface="Calibri"/>
                <a:cs typeface="Calibri"/>
                <a:sym typeface="Calibri"/>
                <a:hlinkClick r:id="rId3"/>
              </a:rPr>
              <a:t>www.youtube.com/watch?v=5uF2QcJ3jvI</a:t>
            </a:r>
            <a:endParaRPr lang="en-US" sz="2800" dirty="0" smtClean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When to Say Yes – Workplace Decision Making – </a:t>
            </a:r>
            <a:r>
              <a:rPr lang="en-US" sz="2800" dirty="0" smtClean="0"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https://www.youtube.com/watch?v=9Fq_2wKk8d4</a:t>
            </a:r>
            <a:endParaRPr lang="en-US" sz="2800" dirty="0" smtClean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sz="28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8" name="Google Shape;358;g3a018be9850_0_0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300" cy="367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cxnSp>
        <p:nvCxnSpPr>
          <p:cNvPr id="359" name="Google Shape;359;g3a018be9850_0_0"/>
          <p:cNvCxnSpPr/>
          <p:nvPr/>
        </p:nvCxnSpPr>
        <p:spPr>
          <a:xfrm>
            <a:off x="1045539" y="1598862"/>
            <a:ext cx="8211300" cy="18300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60" name="Google Shape;360;g3a018be9850_0_0" descr="cdc logo png black (1)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"/>
          <p:cNvSpPr txBox="1">
            <a:spLocks noGrp="1"/>
          </p:cNvSpPr>
          <p:nvPr>
            <p:ph type="title"/>
          </p:nvPr>
        </p:nvSpPr>
        <p:spPr>
          <a:xfrm>
            <a:off x="1012084" y="670014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366" name="Google Shape;366;p53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Respecting privacy shows maturity, empathy, and professionalism.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Learning to say “No” helps maintain personal boundaries and self-respect.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Both skills encourage healthy communication and mutual understanding.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They prevent burnout, stress, and misunderstandings.</a:t>
            </a:r>
            <a:endParaRPr/>
          </a:p>
        </p:txBody>
      </p:sp>
      <p:pic>
        <p:nvPicPr>
          <p:cNvPr id="367" name="Google Shape;367;p53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53"/>
          <p:cNvCxnSpPr/>
          <p:nvPr/>
        </p:nvCxnSpPr>
        <p:spPr>
          <a:xfrm>
            <a:off x="1012084" y="1565408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4800"/>
          </a:p>
        </p:txBody>
      </p:sp>
      <p:sp>
        <p:nvSpPr>
          <p:cNvPr id="374" name="Google Shape;374;p54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Practicing these skills leads to balanced personal and professional relationships.</a:t>
            </a:r>
            <a:endParaRPr/>
          </a:p>
          <a:p>
            <a:pPr marL="45720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Together, they promote emotional well-being and responsible behavior.</a:t>
            </a:r>
            <a:endParaRPr/>
          </a:p>
          <a:p>
            <a:pPr marL="4572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375" name="Google Shape;375;p54"/>
          <p:cNvSpPr txBox="1">
            <a:spLocks noGrp="1"/>
          </p:cNvSpPr>
          <p:nvPr>
            <p:ph type="sldNum" idx="12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cxnSp>
        <p:nvCxnSpPr>
          <p:cNvPr id="376" name="Google Shape;376;p54"/>
          <p:cNvCxnSpPr/>
          <p:nvPr/>
        </p:nvCxnSpPr>
        <p:spPr>
          <a:xfrm>
            <a:off x="1012084" y="1565408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77" name="Google Shape;377;p5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/>
          </a:p>
        </p:txBody>
      </p:sp>
      <p:sp>
        <p:nvSpPr>
          <p:cNvPr id="383" name="Google Shape;383;p44"/>
          <p:cNvSpPr txBox="1"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this session, learners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Evaluate requests before agreeing or declining.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Clarify offers to ensure accurate understanding of expectations.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Deliver a polite, clear, and well-reasoned 'No.'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Recognize opportunities to say 'Yes' strategically.</a:t>
            </a:r>
            <a:endParaRPr/>
          </a:p>
          <a:p>
            <a:pPr marL="0" lvl="0" indent="4572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• Maintain professional relationships while setting boundaries.</a:t>
            </a:r>
            <a:endParaRPr/>
          </a:p>
        </p:txBody>
      </p:sp>
      <p:pic>
        <p:nvPicPr>
          <p:cNvPr id="384" name="Google Shape;384;p44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44"/>
          <p:cNvCxnSpPr/>
          <p:nvPr/>
        </p:nvCxnSpPr>
        <p:spPr>
          <a:xfrm>
            <a:off x="1045539" y="1598862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 txBox="1">
            <a:spLocks noGrp="1"/>
          </p:cNvSpPr>
          <p:nvPr>
            <p:ph type="body" idx="1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marL="228600" lvl="0" indent="-228600" algn="ctr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id="392" name="Google Shape;392;p26" descr="cdc logo png black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2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w="762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1639</Words>
  <Application>Microsoft Office PowerPoint</Application>
  <PresentationFormat>Widescreen</PresentationFormat>
  <Paragraphs>207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Arial</vt:lpstr>
      <vt:lpstr>Abril Fatface</vt:lpstr>
      <vt:lpstr>ModOverlayVTI</vt:lpstr>
      <vt:lpstr>PowerPoint Presentation</vt:lpstr>
      <vt:lpstr>Learning Objectives</vt:lpstr>
      <vt:lpstr>Topics to be Covered  </vt:lpstr>
      <vt:lpstr>Introduction</vt:lpstr>
      <vt:lpstr>Introduction</vt:lpstr>
      <vt:lpstr>Introduction</vt:lpstr>
      <vt:lpstr>Learning to Say 'No' Professionally</vt:lpstr>
      <vt:lpstr>Clarify the Offer</vt:lpstr>
      <vt:lpstr> Assessing Requests Before Responding </vt:lpstr>
      <vt:lpstr>How to Deliver a Well-Reasoned 'No'</vt:lpstr>
      <vt:lpstr>When to Say 'Yes'</vt:lpstr>
      <vt:lpstr>Tips for Maintaining Professional Boundaries</vt:lpstr>
      <vt:lpstr>Engagement Strategies</vt:lpstr>
      <vt:lpstr>Role-Play Exercises — Practicing “No” with Reasoning</vt:lpstr>
      <vt:lpstr>Suggested Group Size &amp; Time</vt:lpstr>
      <vt:lpstr>Warm-up (5–8 minutes)</vt:lpstr>
      <vt:lpstr>Structure of Each Role-Play</vt:lpstr>
      <vt:lpstr>Techniques &amp; Phrases to Practice</vt:lpstr>
      <vt:lpstr>Role-Play Scenarios </vt:lpstr>
      <vt:lpstr>PowerPoint Presentation</vt:lpstr>
      <vt:lpstr>2) Unpaid Personal Favor from a Friend</vt:lpstr>
      <vt:lpstr>3. Manager Asks for Unreasonable Deadline Change</vt:lpstr>
      <vt:lpstr>Observers’ Feedback Guide</vt:lpstr>
      <vt:lpstr>Reflection Prompts (Post-Role-Play)</vt:lpstr>
      <vt:lpstr>References</vt:lpstr>
      <vt:lpstr>Video Links</vt:lpstr>
      <vt:lpstr>Video Links</vt:lpstr>
      <vt:lpstr>Conclusion</vt:lpstr>
      <vt:lpstr>Conclusion</vt:lpstr>
      <vt:lpstr>Learning Outcomes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Parul Institute of Engineering &amp; Technology</cp:lastModifiedBy>
  <cp:revision>2</cp:revision>
  <dcterms:created xsi:type="dcterms:W3CDTF">2024-01-11T09:03:24Z</dcterms:created>
  <dcterms:modified xsi:type="dcterms:W3CDTF">2026-01-02T08:25:38Z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