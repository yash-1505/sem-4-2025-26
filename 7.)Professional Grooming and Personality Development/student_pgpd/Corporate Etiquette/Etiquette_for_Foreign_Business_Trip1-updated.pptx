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Abril Fatface" panose="020B0604020202020204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o4hIfDrKbMG9F+En2gf5Xz6p5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8432440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8432440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a18432440a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18734910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187349106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a187349106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8734910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187349106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a187349106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18734910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187349106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a187349106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18734910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187349106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a187349106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18734910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187349106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a187349106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18734910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187349106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a187349106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187349106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187349106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a187349106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187349106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187349106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a187349106_0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18734910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18734910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a187349106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18734910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187349106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a187349106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bout 1">
  <p:cSld name="About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991644" y="3657675"/>
            <a:ext cx="3200357" cy="3200320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rot="10800000">
            <a:off x="0" y="-5"/>
            <a:ext cx="2286000" cy="2285973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 rot="5400000">
            <a:off x="-433923" y="5546250"/>
            <a:ext cx="1745673" cy="877824"/>
          </a:xfrm>
          <a:custGeom>
            <a:avLst/>
            <a:gdLst/>
            <a:ahLst/>
            <a:cxnLst/>
            <a:rect l="l" t="t" r="r" b="b"/>
            <a:pathLst>
              <a:path w="4572000" h="2285974" extrusionOk="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 txBox="1">
            <a:spLocks noGrp="1"/>
          </p:cNvSpPr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1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sldNum" idx="12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dt" idx="10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sldNum" idx="12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9"/>
          <p:cNvSpPr/>
          <p:nvPr/>
        </p:nvSpPr>
        <p:spPr>
          <a:xfrm rot="10800000">
            <a:off x="1" y="0"/>
            <a:ext cx="1745673" cy="877824"/>
          </a:xfrm>
          <a:custGeom>
            <a:avLst/>
            <a:gdLst/>
            <a:ahLst/>
            <a:cxnLst/>
            <a:rect l="l" t="t" r="r" b="b"/>
            <a:pathLst>
              <a:path w="4572000" h="2285974" extrusionOk="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8991644" y="3657688"/>
            <a:ext cx="3200357" cy="3200320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sldNum" idx="12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dt" idx="10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ldNum" idx="12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body" idx="1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body" idx="2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3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2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4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8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body" idx="1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9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9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8844703" y="3732560"/>
            <a:ext cx="3352193" cy="3125440"/>
          </a:xfrm>
          <a:custGeom>
            <a:avLst/>
            <a:gdLst/>
            <a:ahLst/>
            <a:cxnLst/>
            <a:rect l="l" t="t" r="r" b="b"/>
            <a:pathLst>
              <a:path w="3352193" h="3125440" extrusionOk="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j-dNrWjVZU?si=FZmP3D8F_PXo9c59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youtu.be/Ty76zN3VIKM?si=0NfEYl61N64UG-Rm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7219" y="85343"/>
            <a:ext cx="2837725" cy="137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2"/>
            <a:ext cx="946404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Corporate Etiquettes</a:t>
            </a:r>
            <a:endParaRPr sz="4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Etiquette for Foreign Business Trip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Understanding Global Business Manners and Professional Conduct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Sem-4 Professional Grooming &amp; Personality Development (303193252) 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/>
          </a:p>
        </p:txBody>
      </p:sp>
      <p:sp>
        <p:nvSpPr>
          <p:cNvPr id="112" name="Google Shape;112;p43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session, students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Identify key etiquette for travel.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Understand cultural norms.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Demonstrate polite communication.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Manage professionalism abroad.</a:t>
            </a:r>
            <a:endParaRPr/>
          </a:p>
        </p:txBody>
      </p:sp>
      <p:pic>
        <p:nvPicPr>
          <p:cNvPr id="113" name="Google Shape;113;p43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43"/>
          <p:cNvCxnSpPr/>
          <p:nvPr/>
        </p:nvCxnSpPr>
        <p:spPr>
          <a:xfrm>
            <a:off x="914400" y="1682714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8432440a_0_1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1" name="Google Shape;121;g3a18432440a_0_1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Pre-Trip Preparation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Dressing Etiquette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Meeting Etiquette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Mistakes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a18432440a_0_1"/>
          <p:cNvSpPr txBox="1">
            <a:spLocks noGrp="1"/>
          </p:cNvSpPr>
          <p:nvPr>
            <p:ph type="sldNum" idx="12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3" name="Google Shape;123;g3a18432440a_0_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g3a18432440a_0_1"/>
          <p:cNvCxnSpPr/>
          <p:nvPr/>
        </p:nvCxnSpPr>
        <p:spPr>
          <a:xfrm>
            <a:off x="914400" y="1682714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 today’s global business world, professionals often travel abroad for meetings, negotiations, and collaborations.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Success in international business depends not only on skills but also on understanding cultural differences and etiquette.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Proper global business manners promote respect, trust, and strong professional relationships.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45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45"/>
          <p:cNvCxnSpPr/>
          <p:nvPr/>
        </p:nvCxnSpPr>
        <p:spPr>
          <a:xfrm>
            <a:off x="914400" y="1599588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87349106_0_91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39" name="Google Shape;139;g3a187349106_0_91"/>
          <p:cNvSpPr txBox="1">
            <a:spLocks noGrp="1"/>
          </p:cNvSpPr>
          <p:nvPr>
            <p:ph type="body" idx="1"/>
          </p:nvPr>
        </p:nvSpPr>
        <p:spPr>
          <a:xfrm>
            <a:off x="914400" y="1919675"/>
            <a:ext cx="9915000" cy="473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Knowing local customs, communication styles, and behavior expectations helps avoid misunderstandings.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Practicing appropriate etiquette during foreign business trips reflects professionalism and adaptability.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Understanding global conduct enhances your reputation and creates opportunities for global growth.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a187349106_0_91"/>
          <p:cNvSpPr txBox="1">
            <a:spLocks noGrp="1"/>
          </p:cNvSpPr>
          <p:nvPr>
            <p:ph type="sldNum" idx="12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cxnSp>
        <p:nvCxnSpPr>
          <p:cNvPr id="141" name="Google Shape;141;g3a187349106_0_91"/>
          <p:cNvCxnSpPr/>
          <p:nvPr/>
        </p:nvCxnSpPr>
        <p:spPr>
          <a:xfrm>
            <a:off x="914400" y="1599588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42" name="Google Shape;142;g3a187349106_0_9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87349106_0_2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Importance of Business Travel Etiquette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a187349106_0_2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Reflects company reputation and personal professionalism.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avoid cultural misunderstandings.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Builds trust and strengthens international partnerships.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smoother negotiations and collaborations.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a187349106_0_2"/>
          <p:cNvSpPr txBox="1">
            <a:spLocks noGrp="1"/>
          </p:cNvSpPr>
          <p:nvPr>
            <p:ph type="sldNum" idx="12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cxnSp>
        <p:nvCxnSpPr>
          <p:cNvPr id="151" name="Google Shape;151;g3a187349106_0_2"/>
          <p:cNvCxnSpPr/>
          <p:nvPr/>
        </p:nvCxnSpPr>
        <p:spPr>
          <a:xfrm>
            <a:off x="914400" y="114704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2" name="Google Shape;152;g3a187349106_0_2"/>
          <p:cNvCxnSpPr/>
          <p:nvPr/>
        </p:nvCxnSpPr>
        <p:spPr>
          <a:xfrm>
            <a:off x="1075950" y="2048621"/>
            <a:ext cx="2426700" cy="198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6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Pre-Trip Preparation</a:t>
            </a:r>
            <a:endParaRPr/>
          </a:p>
        </p:txBody>
      </p:sp>
      <p:sp>
        <p:nvSpPr>
          <p:cNvPr id="158" name="Google Shape;158;p46"/>
          <p:cNvSpPr txBox="1">
            <a:spLocks noGrp="1"/>
          </p:cNvSpPr>
          <p:nvPr>
            <p:ph type="body" idx="1"/>
          </p:nvPr>
        </p:nvSpPr>
        <p:spPr>
          <a:xfrm>
            <a:off x="914400" y="1919675"/>
            <a:ext cx="9915000" cy="49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10000"/>
          </a:bodyPr>
          <a:lstStyle/>
          <a:p>
            <a:pPr marL="457200" lvl="0" indent="-40497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80357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050">
                <a:latin typeface="Calibri"/>
                <a:ea typeface="Calibri"/>
                <a:cs typeface="Calibri"/>
                <a:sym typeface="Calibri"/>
              </a:rPr>
              <a:t>Research destination country’s culture, customs, and traditions.</a:t>
            </a:r>
            <a:endParaRPr sz="505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497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5050">
                <a:latin typeface="Calibri"/>
                <a:ea typeface="Calibri"/>
                <a:cs typeface="Calibri"/>
                <a:sym typeface="Calibri"/>
              </a:rPr>
              <a:t>Learn basic greetings and polite expressions in the local language.</a:t>
            </a:r>
            <a:endParaRPr sz="505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4971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5050">
                <a:latin typeface="Calibri"/>
                <a:ea typeface="Calibri"/>
                <a:cs typeface="Calibri"/>
                <a:sym typeface="Calibri"/>
              </a:rPr>
              <a:t>Understand time zones, local business hours, and holidays.</a:t>
            </a:r>
            <a:endParaRPr sz="505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4971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5050">
                <a:latin typeface="Calibri"/>
                <a:ea typeface="Calibri"/>
                <a:cs typeface="Calibri"/>
                <a:sym typeface="Calibri"/>
              </a:rPr>
              <a:t>Pack appropriate business attire following local norms.</a:t>
            </a:r>
            <a:endParaRPr sz="505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4971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5050">
                <a:latin typeface="Calibri"/>
                <a:ea typeface="Calibri"/>
                <a:cs typeface="Calibri"/>
                <a:sym typeface="Calibri"/>
              </a:rPr>
              <a:t>Keep all travel documents organized (passport, visa, business cards, itinerary).</a:t>
            </a:r>
            <a:endParaRPr sz="505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50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46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46"/>
          <p:cNvCxnSpPr/>
          <p:nvPr/>
        </p:nvCxnSpPr>
        <p:spPr>
          <a:xfrm>
            <a:off x="914400" y="16272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87349106_0_13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Professional Conduct Abroad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a187349106_0_13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punctual and respectful of others’ time.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polite and formal communication.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 local hierarchy and authority.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controversial topics (politics, religion, etc.).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genuine interest in the host country’s culture.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a187349106_0_13"/>
          <p:cNvSpPr txBox="1">
            <a:spLocks noGrp="1"/>
          </p:cNvSpPr>
          <p:nvPr>
            <p:ph type="sldNum" idx="12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cxnSp>
        <p:nvCxnSpPr>
          <p:cNvPr id="169" name="Google Shape;169;g3a187349106_0_13"/>
          <p:cNvCxnSpPr/>
          <p:nvPr/>
        </p:nvCxnSpPr>
        <p:spPr>
          <a:xfrm>
            <a:off x="914400" y="16272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7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Dressing Etiquette</a:t>
            </a:r>
            <a:endParaRPr/>
          </a:p>
        </p:txBody>
      </p:sp>
      <p:sp>
        <p:nvSpPr>
          <p:cNvPr id="175" name="Google Shape;175;p47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Dress professionally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Avoid flashy attire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Maintain grooming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Use neutral colors.</a:t>
            </a:r>
            <a:endParaRPr/>
          </a:p>
        </p:txBody>
      </p:sp>
      <p:pic>
        <p:nvPicPr>
          <p:cNvPr id="176" name="Google Shape;176;p47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47"/>
          <p:cNvCxnSpPr/>
          <p:nvPr/>
        </p:nvCxnSpPr>
        <p:spPr>
          <a:xfrm>
            <a:off x="914400" y="1655005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8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Business Meeting Etiquette</a:t>
            </a:r>
            <a:endParaRPr/>
          </a:p>
        </p:txBody>
      </p:sp>
      <p:sp>
        <p:nvSpPr>
          <p:cNvPr id="183" name="Google Shape;183;p48"/>
          <p:cNvSpPr txBox="1">
            <a:spLocks noGrp="1"/>
          </p:cNvSpPr>
          <p:nvPr>
            <p:ph type="body" idx="1"/>
          </p:nvPr>
        </p:nvSpPr>
        <p:spPr>
          <a:xfrm>
            <a:off x="914400" y="1919675"/>
            <a:ext cx="9915000" cy="5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Learn appropriate greetings (handshake, bow, nod, etc.).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Exchange business cards respectfully — receive with both hands when required.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professional titles and surnames unless invited otherwise.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Be attentive to seating arrangements and order of introduction.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48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48"/>
          <p:cNvCxnSpPr/>
          <p:nvPr/>
        </p:nvCxnSpPr>
        <p:spPr>
          <a:xfrm>
            <a:off x="914400" y="1655005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9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Communication Etiquette</a:t>
            </a:r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body" idx="1"/>
          </p:nvPr>
        </p:nvSpPr>
        <p:spPr>
          <a:xfrm>
            <a:off x="914400" y="1919675"/>
            <a:ext cx="9915000" cy="5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Speak clearly and avoid slang or idioms.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a polite tone; maintain eye contact as culturally appropriate.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Listen attentively and show patience.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Respect differences in communication style — some cultures are direct, others more indirect.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49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49"/>
          <p:cNvCxnSpPr/>
          <p:nvPr/>
        </p:nvCxnSpPr>
        <p:spPr>
          <a:xfrm>
            <a:off x="1021530" y="1655005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0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Dining Etiquette</a:t>
            </a:r>
            <a:endParaRPr/>
          </a:p>
        </p:txBody>
      </p:sp>
      <p:sp>
        <p:nvSpPr>
          <p:cNvPr id="199" name="Google Shape;199;p50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Familiarize yourself with local dining customs and table manners.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Wait for the host to start or indicate where to sit.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Avoid discussing business unless the host initiates it.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Express gratitude after the meal and follow up with a thank-you message.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50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50"/>
          <p:cNvCxnSpPr/>
          <p:nvPr/>
        </p:nvCxnSpPr>
        <p:spPr>
          <a:xfrm>
            <a:off x="1021529" y="1696570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Gift-Giving Etiquette</a:t>
            </a:r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Understand if gift-giving is customary in the host country.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Choose culturally appropriate, modest gifts.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Avoid gifts that may be considered offensive or too expensive.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Present gifts respectfully and with gratitude.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5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51"/>
          <p:cNvCxnSpPr/>
          <p:nvPr/>
        </p:nvCxnSpPr>
        <p:spPr>
          <a:xfrm>
            <a:off x="1063094" y="1682715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Japan</a:t>
            </a:r>
            <a:endParaRPr dirty="0"/>
          </a:p>
        </p:txBody>
      </p:sp>
      <p:sp>
        <p:nvSpPr>
          <p:cNvPr id="215" name="Google Shape;215;p52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Bow to greet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Exchange cards with both hands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Silence is valued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Avoid strong eye contact.</a:t>
            </a:r>
            <a:endParaRPr dirty="0"/>
          </a:p>
        </p:txBody>
      </p:sp>
      <p:pic>
        <p:nvPicPr>
          <p:cNvPr id="216" name="Google Shape;216;p52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52"/>
          <p:cNvCxnSpPr/>
          <p:nvPr/>
        </p:nvCxnSpPr>
        <p:spPr>
          <a:xfrm>
            <a:off x="914400" y="1696569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3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India</a:t>
            </a:r>
            <a:endParaRPr dirty="0"/>
          </a:p>
        </p:txBody>
      </p:sp>
      <p:sp>
        <p:nvSpPr>
          <p:cNvPr id="223" name="Google Shape;223;p53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Greet with Namaste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Be punctual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Dress conservatively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Avoid sensitive topics.</a:t>
            </a:r>
            <a:endParaRPr dirty="0"/>
          </a:p>
        </p:txBody>
      </p:sp>
      <p:pic>
        <p:nvPicPr>
          <p:cNvPr id="224" name="Google Shape;224;p53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53"/>
          <p:cNvCxnSpPr/>
          <p:nvPr/>
        </p:nvCxnSpPr>
        <p:spPr>
          <a:xfrm>
            <a:off x="914400" y="1696569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4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China</a:t>
            </a:r>
            <a:endParaRPr dirty="0"/>
          </a:p>
        </p:txBody>
      </p:sp>
      <p:sp>
        <p:nvSpPr>
          <p:cNvPr id="231" name="Google Shape;231;p54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Use titles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Avoid gifting clocks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Be patient in talks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Meals are hierarchical.</a:t>
            </a:r>
            <a:endParaRPr dirty="0"/>
          </a:p>
        </p:txBody>
      </p:sp>
      <p:pic>
        <p:nvPicPr>
          <p:cNvPr id="232" name="Google Shape;232;p54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54"/>
          <p:cNvCxnSpPr/>
          <p:nvPr/>
        </p:nvCxnSpPr>
        <p:spPr>
          <a:xfrm>
            <a:off x="1104657" y="1627297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5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dirty="0"/>
          </a:p>
        </p:txBody>
      </p:sp>
      <p:sp>
        <p:nvSpPr>
          <p:cNvPr id="239" name="Google Shape;239;p55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Respect seniority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Offer items with both hands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Avoid contact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Toasting common.</a:t>
            </a:r>
            <a:endParaRPr dirty="0"/>
          </a:p>
        </p:txBody>
      </p:sp>
      <p:pic>
        <p:nvPicPr>
          <p:cNvPr id="240" name="Google Shape;240;p55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55"/>
          <p:cNvCxnSpPr/>
          <p:nvPr/>
        </p:nvCxnSpPr>
        <p:spPr>
          <a:xfrm>
            <a:off x="914400" y="1585733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6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USA</a:t>
            </a:r>
            <a:endParaRPr dirty="0"/>
          </a:p>
        </p:txBody>
      </p:sp>
      <p:sp>
        <p:nvSpPr>
          <p:cNvPr id="247" name="Google Shape;247;p56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Firm handshake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Eye contact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Be direct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Be punctual.</a:t>
            </a:r>
            <a:endParaRPr dirty="0"/>
          </a:p>
        </p:txBody>
      </p:sp>
      <p:pic>
        <p:nvPicPr>
          <p:cNvPr id="248" name="Google Shape;248;p56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56"/>
          <p:cNvCxnSpPr/>
          <p:nvPr/>
        </p:nvCxnSpPr>
        <p:spPr>
          <a:xfrm>
            <a:off x="914400" y="16272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7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UAE</a:t>
            </a:r>
            <a:endParaRPr dirty="0"/>
          </a:p>
        </p:txBody>
      </p:sp>
      <p:sp>
        <p:nvSpPr>
          <p:cNvPr id="255" name="Google Shape;255;p57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Greet with right hand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Dress modestly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Avoid PDA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Alcohol only if accepted.</a:t>
            </a:r>
            <a:endParaRPr dirty="0"/>
          </a:p>
        </p:txBody>
      </p:sp>
      <p:pic>
        <p:nvPicPr>
          <p:cNvPr id="256" name="Google Shape;256;p57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57"/>
          <p:cNvCxnSpPr/>
          <p:nvPr/>
        </p:nvCxnSpPr>
        <p:spPr>
          <a:xfrm>
            <a:off x="914400" y="161344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8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Common Mistakes</a:t>
            </a:r>
            <a:endParaRPr dirty="0"/>
          </a:p>
        </p:txBody>
      </p:sp>
      <p:sp>
        <p:nvSpPr>
          <p:cNvPr id="263" name="Google Shape;263;p58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Ignoring customs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Using gestures wrongly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Assuming same etiquette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Being insensitive.</a:t>
            </a:r>
            <a:endParaRPr dirty="0"/>
          </a:p>
        </p:txBody>
      </p:sp>
      <p:pic>
        <p:nvPicPr>
          <p:cNvPr id="264" name="Google Shape;264;p58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58"/>
          <p:cNvCxnSpPr/>
          <p:nvPr/>
        </p:nvCxnSpPr>
        <p:spPr>
          <a:xfrm>
            <a:off x="914400" y="1599588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0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Engagement Strategies</a:t>
            </a:r>
            <a:endParaRPr dirty="0"/>
          </a:p>
        </p:txBody>
      </p:sp>
      <p:sp>
        <p:nvSpPr>
          <p:cNvPr id="271" name="Google Shape;271;p60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Role-play meeting abroad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Discussion on culture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Video analysis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Quiz &amp; feedback.</a:t>
            </a:r>
            <a:endParaRPr dirty="0"/>
          </a:p>
        </p:txBody>
      </p:sp>
      <p:pic>
        <p:nvPicPr>
          <p:cNvPr id="272" name="Google Shape;272;p60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60"/>
          <p:cNvCxnSpPr/>
          <p:nvPr/>
        </p:nvCxnSpPr>
        <p:spPr>
          <a:xfrm>
            <a:off x="914400" y="1613441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1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Reflection</a:t>
            </a:r>
            <a:endParaRPr dirty="0"/>
          </a:p>
        </p:txBody>
      </p:sp>
      <p:sp>
        <p:nvSpPr>
          <p:cNvPr id="279" name="Google Shape;279;p61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How does global etiquette improve your career?</a:t>
            </a:r>
            <a:endParaRPr dirty="0"/>
          </a:p>
        </p:txBody>
      </p:sp>
      <p:pic>
        <p:nvPicPr>
          <p:cNvPr id="280" name="Google Shape;280;p6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61"/>
          <p:cNvCxnSpPr/>
          <p:nvPr/>
        </p:nvCxnSpPr>
        <p:spPr>
          <a:xfrm>
            <a:off x="914400" y="1599587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187349106_0_45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Activity Overview:</a:t>
            </a:r>
            <a:endParaRPr sz="4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a187349106_0_45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will 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a short video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depicting a business interaction during a foreign trip — such as a meeting, a business dinner, or a greeting scenario — and then 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the behavior, communication, and etiquette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shown in the </a:t>
            </a:r>
            <a:r>
              <a:rPr lang="en-US" sz="2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clip. For reference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 dirty="0" smtClean="0"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https://www.youtube.com/watch?v=PwKtEa9p4u4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g3a187349106_0_45"/>
          <p:cNvCxnSpPr/>
          <p:nvPr/>
        </p:nvCxnSpPr>
        <p:spPr>
          <a:xfrm>
            <a:off x="914400" y="1599587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90" name="Google Shape;290;g3a187349106_0_45" descr="cdc logo png black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187349106_0_53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Suggested Video Types:</a:t>
            </a:r>
            <a:endParaRPr sz="4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a187349106_0_53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99150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(Choose one or more from YouTube or corporate training platforms)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“Cross-Cultural Business Etiquette”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showing different greeting styles and meeting manners.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“Business Dining Etiquette Around the World.”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“Cultural Differences in International Business Meetings.”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“Global Etiquette Mistakes to Avoid.”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/>
          </a:p>
        </p:txBody>
      </p:sp>
      <p:cxnSp>
        <p:nvCxnSpPr>
          <p:cNvPr id="298" name="Google Shape;298;g3a187349106_0_53"/>
          <p:cNvCxnSpPr/>
          <p:nvPr/>
        </p:nvCxnSpPr>
        <p:spPr>
          <a:xfrm>
            <a:off x="914400" y="1599587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99" name="Google Shape;299;g3a187349106_0_53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187349106_0_61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 for Students:</a:t>
            </a:r>
            <a:endParaRPr sz="4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a187349106_0_61"/>
          <p:cNvSpPr txBox="1">
            <a:spLocks noGrp="1"/>
          </p:cNvSpPr>
          <p:nvPr>
            <p:ph type="body" idx="1"/>
          </p:nvPr>
        </p:nvSpPr>
        <p:spPr>
          <a:xfrm>
            <a:off x="914400" y="1919675"/>
            <a:ext cx="9915000" cy="487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the assigned video carefully.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examples of </a:t>
            </a:r>
            <a:r>
              <a:rPr lang="en-US" sz="1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etiquette</a:t>
            </a: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(what was done correctly) and </a:t>
            </a:r>
            <a:r>
              <a:rPr lang="en-US" sz="1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etiquette</a:t>
            </a: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(what could be improved).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key aspects such as: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1000" lvl="1" indent="-1143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Greeting style and introductions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1000" lvl="1" indent="-1143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Dress code and appearance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307" name="Google Shape;307;g3a187349106_0_61"/>
          <p:cNvCxnSpPr/>
          <p:nvPr/>
        </p:nvCxnSpPr>
        <p:spPr>
          <a:xfrm>
            <a:off x="914400" y="1599587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08" name="Google Shape;308;g3a187349106_0_6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187349106_0_72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4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 for Students:</a:t>
            </a:r>
            <a:endParaRPr sz="4800" dirty="0"/>
          </a:p>
        </p:txBody>
      </p:sp>
      <p:sp>
        <p:nvSpPr>
          <p:cNvPr id="315" name="Google Shape;315;g3a187349106_0_72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1651000" lvl="1" indent="-11430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ct val="100000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language and gestures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1000" lvl="1" indent="-1143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tone and language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1000" lvl="1" indent="-1143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Meeting or dining behavior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1000" lvl="1" indent="-1143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Cultural misunderstandings, if any</a:t>
            </a: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6" name="Google Shape;316;g3a187349106_0_72"/>
          <p:cNvSpPr txBox="1">
            <a:spLocks noGrp="1"/>
          </p:cNvSpPr>
          <p:nvPr>
            <p:ph type="sldNum" idx="12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cxnSp>
        <p:nvCxnSpPr>
          <p:cNvPr id="5" name="Google Shape;307;g3a187349106_0_61"/>
          <p:cNvCxnSpPr/>
          <p:nvPr/>
        </p:nvCxnSpPr>
        <p:spPr>
          <a:xfrm>
            <a:off x="914400" y="1599587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800" b="1" dirty="0">
                <a:latin typeface="Calibri" panose="020F0502020204030204" pitchFamily="34" charset="0"/>
                <a:cs typeface="Calibri" panose="020F0502020204030204" pitchFamily="34" charset="0"/>
              </a:rPr>
              <a:t>Business Etiquette in Germany</a:t>
            </a:r>
            <a:r>
              <a:rPr lang="en-IN" sz="4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68582"/>
            <a:ext cx="9914860" cy="5140035"/>
          </a:xfrm>
        </p:spPr>
        <p:txBody>
          <a:bodyPr>
            <a:noAutofit/>
          </a:bodyPr>
          <a:lstStyle/>
          <a:p>
            <a:pPr marL="101600" indent="0">
              <a:buNone/>
            </a:pPr>
            <a:r>
              <a:rPr lang="en-IN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Questions </a:t>
            </a: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&amp; Sample Answers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1600" indent="0">
              <a:buNone/>
            </a:pPr>
            <a:r>
              <a:rPr lang="en-IN" sz="2800" b="1" dirty="0">
                <a:latin typeface="Calibri" panose="020F0502020204030204" pitchFamily="34" charset="0"/>
                <a:cs typeface="Calibri" panose="020F0502020204030204" pitchFamily="34" charset="0"/>
              </a:rPr>
              <a:t>1. How do people usually greet each other in German business settings?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1600" indent="0">
              <a:buNone/>
            </a:pPr>
            <a:r>
              <a:rPr lang="en-IN" sz="28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Answer:</a:t>
            </a:r>
            <a:r>
              <a:rPr lang="en-IN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People</a:t>
            </a:r>
            <a:r>
              <a:rPr lang="en-IN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usually greet each other with a firm handshake, direct eye contact, and a formal greeting</a:t>
            </a:r>
            <a:r>
              <a:rPr lang="en-IN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01600" indent="0">
              <a:buNone/>
            </a:pP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2. What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behavior would be considered disrespectful in a German business setting?</a:t>
            </a:r>
          </a:p>
          <a:p>
            <a:pPr marL="101600" indent="0">
              <a:buNone/>
            </a:pPr>
            <a:r>
              <a:rPr lang="en-US" sz="28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Answer:</a:t>
            </a:r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Being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late, interrupting others, being unprepared, or behaving too casually could be considered disrespectful.</a:t>
            </a:r>
          </a:p>
          <a:p>
            <a:pPr marL="101600" indent="0">
              <a:buNone/>
            </a:pPr>
            <a:endParaRPr lang="en-IN" sz="2800" dirty="0"/>
          </a:p>
          <a:p>
            <a:endParaRPr lang="en-IN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cxnSp>
        <p:nvCxnSpPr>
          <p:cNvPr id="5" name="Google Shape;307;g3a187349106_0_61"/>
          <p:cNvCxnSpPr/>
          <p:nvPr/>
        </p:nvCxnSpPr>
        <p:spPr>
          <a:xfrm>
            <a:off x="896111" y="1236870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48425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187349106_0_79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Discussion Questions:</a:t>
            </a:r>
            <a:endParaRPr sz="4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a187349106_0_79"/>
          <p:cNvSpPr txBox="1">
            <a:spLocks noGrp="1"/>
          </p:cNvSpPr>
          <p:nvPr>
            <p:ph type="body" idx="1"/>
          </p:nvPr>
        </p:nvSpPr>
        <p:spPr>
          <a:xfrm>
            <a:off x="1057800" y="1497050"/>
            <a:ext cx="10524600" cy="502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the video, conduct a class discussion guided by these questions: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cultural differences did you observe in the video?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did the professionals show respect toward each other?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there any behaviors that seemed inappropriate or disrespectful?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could the individuals have improved their professional conduct?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lessons can we apply when traveling abroad for business?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Google Shape;307;g3a187349106_0_61"/>
          <p:cNvCxnSpPr/>
          <p:nvPr/>
        </p:nvCxnSpPr>
        <p:spPr>
          <a:xfrm>
            <a:off x="914400" y="1599587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187349106_0_26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Common Cross-Cultural Challenges</a:t>
            </a:r>
            <a:endParaRPr sz="4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a187349106_0_26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Misinterpretation of gestures or expressions.</a:t>
            </a:r>
            <a:b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Differing concepts of time and punctuality.</a:t>
            </a:r>
            <a:b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barriers and language misunderstandings.</a:t>
            </a:r>
            <a:b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Differences in decision-making styles.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g3a187349106_0_26"/>
          <p:cNvCxnSpPr/>
          <p:nvPr/>
        </p:nvCxnSpPr>
        <p:spPr>
          <a:xfrm>
            <a:off x="914400" y="1599587"/>
            <a:ext cx="9484800" cy="462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187349106_0_35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Tips for Success</a:t>
            </a:r>
            <a:endParaRPr sz="4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a187349106_0_35"/>
          <p:cNvSpPr txBox="1">
            <a:spLocks noGrp="1"/>
          </p:cNvSpPr>
          <p:nvPr>
            <p:ph type="body" idx="1"/>
          </p:nvPr>
        </p:nvSpPr>
        <p:spPr>
          <a:xfrm>
            <a:off x="1138500" y="1600198"/>
            <a:ext cx="9915000" cy="41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before acting.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humility and respect.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 quickly to cultural cues.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patient, flexible, and open-minded.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your organization positively at all times.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g3a187349106_0_35"/>
          <p:cNvCxnSpPr/>
          <p:nvPr/>
        </p:nvCxnSpPr>
        <p:spPr>
          <a:xfrm>
            <a:off x="914400" y="1599587"/>
            <a:ext cx="9484800" cy="462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2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dirty="0"/>
          </a:p>
        </p:txBody>
      </p:sp>
      <p:sp>
        <p:nvSpPr>
          <p:cNvPr id="345" name="Google Shape;345;p62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Kiss, Bow, or Shake Hands – Morrison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Global Business Handbook – Oxford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HBR – Cross-Cultural Management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MindTools.com</a:t>
            </a:r>
            <a:endParaRPr dirty="0"/>
          </a:p>
        </p:txBody>
      </p:sp>
      <p:pic>
        <p:nvPicPr>
          <p:cNvPr id="346" name="Google Shape;346;p62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62"/>
          <p:cNvCxnSpPr/>
          <p:nvPr/>
        </p:nvCxnSpPr>
        <p:spPr>
          <a:xfrm>
            <a:off x="914400" y="1627297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3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3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https://youtu.be/iOWhjSr_jwQ?si=mj4ItfO7KIuZXd-C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https://youtu.be/qWbWL0l3ySk?si=o6yURMokqLW00Dtm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https://youtu.be/aj-dNrWjVZU?si=FZmP3D8F_PXo9c59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https://youtu.be/Ty76zN3VIKM?si=0NfEYl61N64UG-Rm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https://youtu.be/Ty76zN3VIKM?si=h9o3DoNTCyW0OSjB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63" descr="cdc logo png black (1)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63"/>
          <p:cNvCxnSpPr/>
          <p:nvPr/>
        </p:nvCxnSpPr>
        <p:spPr>
          <a:xfrm>
            <a:off x="1076948" y="161344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4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361" name="Google Shape;361;p64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Business travel etiquette reflects global professionalism.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Understanding and respecting cultural norms leads to stronger business relationships.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Being prepared, respectful, and adaptable ensures success in international engagements.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64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3" name="Google Shape;363;p64"/>
          <p:cNvCxnSpPr/>
          <p:nvPr/>
        </p:nvCxnSpPr>
        <p:spPr>
          <a:xfrm>
            <a:off x="1035385" y="1599587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this session, learners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Show proper manners internationally.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Avoid cultural misunderstandings.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Conduct respectful meetings.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Represent organization globally.</a:t>
            </a:r>
            <a:endParaRPr/>
          </a:p>
        </p:txBody>
      </p:sp>
      <p:pic>
        <p:nvPicPr>
          <p:cNvPr id="370" name="Google Shape;370;p44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p44"/>
          <p:cNvCxnSpPr/>
          <p:nvPr/>
        </p:nvCxnSpPr>
        <p:spPr>
          <a:xfrm>
            <a:off x="1035384" y="1655005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228600" lvl="0" indent="-22860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id="378" name="Google Shape;378;p26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p26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1150</Words>
  <Application>Microsoft Office PowerPoint</Application>
  <PresentationFormat>Widescreen</PresentationFormat>
  <Paragraphs>206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Calibri</vt:lpstr>
      <vt:lpstr>Arial</vt:lpstr>
      <vt:lpstr>Abril Fatface</vt:lpstr>
      <vt:lpstr>ModOverlayVTI</vt:lpstr>
      <vt:lpstr>PowerPoint Presentation</vt:lpstr>
      <vt:lpstr>Learning Objectives</vt:lpstr>
      <vt:lpstr>Topics to be Covered </vt:lpstr>
      <vt:lpstr>Introduction</vt:lpstr>
      <vt:lpstr>Introduction</vt:lpstr>
      <vt:lpstr>Importance of Business Travel Etiquette</vt:lpstr>
      <vt:lpstr>Pre-Trip Preparation</vt:lpstr>
      <vt:lpstr>Professional Conduct Abroad</vt:lpstr>
      <vt:lpstr>Dressing Etiquette</vt:lpstr>
      <vt:lpstr>Business Meeting Etiquette</vt:lpstr>
      <vt:lpstr>Communication Etiquette</vt:lpstr>
      <vt:lpstr>Dining Etiquette</vt:lpstr>
      <vt:lpstr>Gift-Giving Etiquette</vt:lpstr>
      <vt:lpstr>Japan</vt:lpstr>
      <vt:lpstr>India</vt:lpstr>
      <vt:lpstr>China</vt:lpstr>
      <vt:lpstr>South Korea</vt:lpstr>
      <vt:lpstr>USA</vt:lpstr>
      <vt:lpstr>UAE</vt:lpstr>
      <vt:lpstr>Common Mistakes</vt:lpstr>
      <vt:lpstr>Engagement Strategies</vt:lpstr>
      <vt:lpstr>Reflection</vt:lpstr>
      <vt:lpstr>Activity Overview:</vt:lpstr>
      <vt:lpstr>Suggested Video Types:</vt:lpstr>
      <vt:lpstr>Instructions for Students:</vt:lpstr>
      <vt:lpstr>Instructions for Students:</vt:lpstr>
      <vt:lpstr>Business Etiquette in Germany </vt:lpstr>
      <vt:lpstr>Discussion Questions:</vt:lpstr>
      <vt:lpstr>Common Cross-Cultural Challenges</vt:lpstr>
      <vt:lpstr>Tips for Success</vt:lpstr>
      <vt:lpstr>References</vt:lpstr>
      <vt:lpstr>Video Links</vt:lpstr>
      <vt:lpstr>Conclusion</vt:lpstr>
      <vt:lpstr>Learning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Parul Institute of Engineering &amp; Technology</cp:lastModifiedBy>
  <cp:revision>2</cp:revision>
  <dcterms:created xsi:type="dcterms:W3CDTF">2024-01-11T09:03:24Z</dcterms:created>
  <dcterms:modified xsi:type="dcterms:W3CDTF">2026-01-03T04:47:49Z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