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12192000"/>
  <p:notesSz cx="6858000" cy="9144000"/>
  <p:embeddedFontLst>
    <p:embeddedFont>
      <p:font typeface="Abril Fatface"/>
      <p:regular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1" roundtripDataSignature="AMtx7midvVpq20lloj2u8D78Ytjx1PPt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C433A3-407C-476F-A9C3-777DA259ED2A}">
  <a:tblStyle styleId="{EFC433A3-407C-476F-A9C3-777DA259ED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customschemas.google.com/relationships/presentationmetadata" Target="metadata"/><Relationship Id="rId50" Type="http://schemas.openxmlformats.org/officeDocument/2006/relationships/font" Target="fonts/AbrilFatface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180452941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180452941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180452941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0243b85c0_0_6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0243b85c0_0_6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a0243b85c0_0_6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0243b85c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a0243b85c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a0243b85c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0243b85c0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a0243b85c0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0243b85c0_0_2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a0243b85c0_0_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0243b85c0_0_3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a0243b85c0_0_3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0243b85c0_0_4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a0243b85c0_0_4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0243b85c0_0_4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a0243b85c0_0_4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0243b85c0_0_4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a0243b85c0_0_4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0243b85c0_0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a0243b85c0_0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0243b85c0_0_4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a0243b85c0_0_4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0243b85c0_0_4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a0243b85c0_0_4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0243b85c0_0_4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a0243b85c0_0_4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0243b85c0_0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0243b85c0_0_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a0243b85c0_0_4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0243b85c0_0_4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0243b85c0_0_4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a0243b85c0_0_4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0243b85c0_0_4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0243b85c0_0_4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a0243b85c0_0_4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0243b85c0_0_4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0243b85c0_0_4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a0243b85c0_0_4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0243b85c0_0_4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a0243b85c0_0_4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a0243b85c0_0_4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0243b85c0_0_4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a0243b85c0_0_4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a0243b85c0_0_4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0243b85c0_0_5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a0243b85c0_0_5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a0243b85c0_0_5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a0243b85c0_0_5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a0243b85c0_0_5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a0243b85c0_0_5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0243b85c0_0_6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a0243b85c0_0_6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a0243b85c0_0_6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0243b85c0_0_6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0243b85c0_0_6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a0243b85c0_0_6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a01dc8169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a01dc8169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a01dc8169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180452941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a180452941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a180452941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180452941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a180452941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a180452941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 rot="10800000">
            <a:off x="0" y="-5"/>
            <a:ext cx="2286000" cy="2285973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/>
          <p:nvPr/>
        </p:nvSpPr>
        <p:spPr>
          <a:xfrm rot="5400000">
            <a:off x="-433923" y="554625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 txBox="1"/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0" type="dt"/>
          </p:nvPr>
        </p:nvSpPr>
        <p:spPr>
          <a:xfrm>
            <a:off x="9323285" y="6434524"/>
            <a:ext cx="2067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1" type="ftr"/>
          </p:nvPr>
        </p:nvSpPr>
        <p:spPr>
          <a:xfrm>
            <a:off x="173736" y="6437376"/>
            <a:ext cx="3775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9"/>
          <p:cNvSpPr/>
          <p:nvPr/>
        </p:nvSpPr>
        <p:spPr>
          <a:xfrm rot="10800000">
            <a:off x="1" y="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subTitle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31"/>
          <p:cNvSpPr txBox="1"/>
          <p:nvPr>
            <p:ph idx="10" type="dt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2" type="sldNum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" type="body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2" type="body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4"/>
          <p:cNvSpPr txBox="1"/>
          <p:nvPr>
            <p:ph idx="2" type="body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4"/>
          <p:cNvSpPr txBox="1"/>
          <p:nvPr>
            <p:ph idx="4" type="body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38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" type="body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9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0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0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243b85c0_0_310"/>
          <p:cNvSpPr/>
          <p:nvPr/>
        </p:nvSpPr>
        <p:spPr>
          <a:xfrm>
            <a:off x="1" y="5983099"/>
            <a:ext cx="12192000" cy="87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a0243b85c0_0_310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a0243b85c0_0_310"/>
          <p:cNvSpPr/>
          <p:nvPr/>
        </p:nvSpPr>
        <p:spPr>
          <a:xfrm rot="10800000">
            <a:off x="-2255" y="-2261"/>
            <a:ext cx="2288255" cy="2288229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a0243b85c0_0_310"/>
          <p:cNvSpPr/>
          <p:nvPr/>
        </p:nvSpPr>
        <p:spPr>
          <a:xfrm rot="5400000">
            <a:off x="-436619" y="5546671"/>
            <a:ext cx="1748790" cy="880100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a0243b85c0_0_310"/>
          <p:cNvSpPr txBox="1"/>
          <p:nvPr>
            <p:ph type="title"/>
          </p:nvPr>
        </p:nvSpPr>
        <p:spPr>
          <a:xfrm>
            <a:off x="1371599" y="1478396"/>
            <a:ext cx="3710400" cy="3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a0243b85c0_0_310"/>
          <p:cNvSpPr txBox="1"/>
          <p:nvPr>
            <p:ph idx="1" type="body"/>
          </p:nvPr>
        </p:nvSpPr>
        <p:spPr>
          <a:xfrm>
            <a:off x="5360465" y="1477963"/>
            <a:ext cx="5536200" cy="3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g3a0243b85c0_0_310"/>
          <p:cNvSpPr txBox="1"/>
          <p:nvPr>
            <p:ph idx="12" type="sldNum"/>
          </p:nvPr>
        </p:nvSpPr>
        <p:spPr>
          <a:xfrm>
            <a:off x="10896600" y="5983104"/>
            <a:ext cx="12954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0243b85c0_0_318"/>
          <p:cNvSpPr/>
          <p:nvPr/>
        </p:nvSpPr>
        <p:spPr>
          <a:xfrm rot="5400000">
            <a:off x="-2992025" y="2992057"/>
            <a:ext cx="6858000" cy="873900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a0243b85c0_0_318"/>
          <p:cNvSpPr/>
          <p:nvPr/>
        </p:nvSpPr>
        <p:spPr>
          <a:xfrm rot="10800000">
            <a:off x="-3116" y="-2276"/>
            <a:ext cx="1748790" cy="880100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a0243b85c0_0_318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a0243b85c0_0_318"/>
          <p:cNvSpPr txBox="1"/>
          <p:nvPr>
            <p:ph type="title"/>
          </p:nvPr>
        </p:nvSpPr>
        <p:spPr>
          <a:xfrm>
            <a:off x="1381748" y="246183"/>
            <a:ext cx="9525000" cy="19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a0243b85c0_0_318"/>
          <p:cNvSpPr txBox="1"/>
          <p:nvPr>
            <p:ph idx="1" type="body"/>
          </p:nvPr>
        </p:nvSpPr>
        <p:spPr>
          <a:xfrm>
            <a:off x="1371600" y="2274033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g3a0243b85c0_0_318"/>
          <p:cNvSpPr txBox="1"/>
          <p:nvPr>
            <p:ph idx="12" type="sldNum"/>
          </p:nvPr>
        </p:nvSpPr>
        <p:spPr>
          <a:xfrm>
            <a:off x="10896600" y="5983104"/>
            <a:ext cx="12954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0243b85c0_0_325"/>
          <p:cNvSpPr txBox="1"/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a0243b85c0_0_325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a0243b85c0_0_325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a0243b85c0_0_325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0243b85c0_0_330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a0243b85c0_0_330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g3a0243b85c0_0_330"/>
          <p:cNvSpPr txBox="1"/>
          <p:nvPr>
            <p:ph idx="10" type="dt"/>
          </p:nvPr>
        </p:nvSpPr>
        <p:spPr>
          <a:xfrm>
            <a:off x="9323285" y="6434524"/>
            <a:ext cx="2067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a0243b85c0_0_330"/>
          <p:cNvSpPr txBox="1"/>
          <p:nvPr>
            <p:ph idx="11" type="ftr"/>
          </p:nvPr>
        </p:nvSpPr>
        <p:spPr>
          <a:xfrm>
            <a:off x="173736" y="6437376"/>
            <a:ext cx="3775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a0243b85c0_0_330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0243b85c0_0_336"/>
          <p:cNvSpPr txBox="1"/>
          <p:nvPr>
            <p:ph type="ctrTitle"/>
          </p:nvPr>
        </p:nvSpPr>
        <p:spPr>
          <a:xfrm>
            <a:off x="1249326" y="919716"/>
            <a:ext cx="85044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a0243b85c0_0_336"/>
          <p:cNvSpPr txBox="1"/>
          <p:nvPr>
            <p:ph idx="1" type="subTitle"/>
          </p:nvPr>
        </p:nvSpPr>
        <p:spPr>
          <a:xfrm>
            <a:off x="1249326" y="4795284"/>
            <a:ext cx="8504400" cy="10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6" name="Google Shape;136;g3a0243b85c0_0_336"/>
          <p:cNvSpPr txBox="1"/>
          <p:nvPr>
            <p:ph idx="10" type="dt"/>
          </p:nvPr>
        </p:nvSpPr>
        <p:spPr>
          <a:xfrm>
            <a:off x="8964706" y="6433202"/>
            <a:ext cx="24264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a0243b85c0_0_336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a0243b85c0_0_336"/>
          <p:cNvSpPr txBox="1"/>
          <p:nvPr>
            <p:ph idx="12" type="sldNum"/>
          </p:nvPr>
        </p:nvSpPr>
        <p:spPr>
          <a:xfrm>
            <a:off x="11391152" y="6433203"/>
            <a:ext cx="7029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0243b85c0_0_342"/>
          <p:cNvSpPr txBox="1"/>
          <p:nvPr>
            <p:ph type="title"/>
          </p:nvPr>
        </p:nvSpPr>
        <p:spPr>
          <a:xfrm>
            <a:off x="1524000" y="1320800"/>
            <a:ext cx="9144000" cy="30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a0243b85c0_0_342"/>
          <p:cNvSpPr txBox="1"/>
          <p:nvPr>
            <p:ph idx="1" type="body"/>
          </p:nvPr>
        </p:nvSpPr>
        <p:spPr>
          <a:xfrm>
            <a:off x="1523999" y="4589463"/>
            <a:ext cx="91440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g3a0243b85c0_0_342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a0243b85c0_0_342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a0243b85c0_0_342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0243b85c0_0_348"/>
          <p:cNvSpPr txBox="1"/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a0243b85c0_0_348"/>
          <p:cNvSpPr txBox="1"/>
          <p:nvPr>
            <p:ph idx="1" type="body"/>
          </p:nvPr>
        </p:nvSpPr>
        <p:spPr>
          <a:xfrm>
            <a:off x="1408813" y="2163725"/>
            <a:ext cx="4611000" cy="4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g3a0243b85c0_0_348"/>
          <p:cNvSpPr txBox="1"/>
          <p:nvPr>
            <p:ph idx="2" type="body"/>
          </p:nvPr>
        </p:nvSpPr>
        <p:spPr>
          <a:xfrm>
            <a:off x="6257260" y="2163725"/>
            <a:ext cx="4853700" cy="4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g3a0243b85c0_0_348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a0243b85c0_0_348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a0243b85c0_0_348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0243b85c0_0_355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a0243b85c0_0_355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5" name="Google Shape;155;g3a0243b85c0_0_355"/>
          <p:cNvSpPr txBox="1"/>
          <p:nvPr>
            <p:ph idx="2" type="body"/>
          </p:nvPr>
        </p:nvSpPr>
        <p:spPr>
          <a:xfrm>
            <a:off x="839788" y="2635623"/>
            <a:ext cx="5157900" cy="3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g3a0243b85c0_0_355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7" name="Google Shape;157;g3a0243b85c0_0_355"/>
          <p:cNvSpPr txBox="1"/>
          <p:nvPr>
            <p:ph idx="4" type="body"/>
          </p:nvPr>
        </p:nvSpPr>
        <p:spPr>
          <a:xfrm>
            <a:off x="6172200" y="2635623"/>
            <a:ext cx="5183100" cy="3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g3a0243b85c0_0_355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a0243b85c0_0_355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a0243b85c0_0_355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0243b85c0_0_364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a0243b85c0_0_364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a0243b85c0_0_364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0243b85c0_0_36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3a0243b85c0_0_368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68" name="Google Shape;168;g3a0243b85c0_0_368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9" name="Google Shape;169;g3a0243b85c0_0_368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a0243b85c0_0_368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a0243b85c0_0_368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0243b85c0_0_37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a0243b85c0_0_375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g3a0243b85c0_0_375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76" name="Google Shape;176;g3a0243b85c0_0_375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a0243b85c0_0_375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a0243b85c0_0_375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0243b85c0_0_382"/>
          <p:cNvSpPr txBox="1"/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a0243b85c0_0_382"/>
          <p:cNvSpPr txBox="1"/>
          <p:nvPr>
            <p:ph idx="1" type="body"/>
          </p:nvPr>
        </p:nvSpPr>
        <p:spPr>
          <a:xfrm rot="5400000">
            <a:off x="3948223" y="-1113138"/>
            <a:ext cx="4133400" cy="10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g3a0243b85c0_0_382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a0243b85c0_0_382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3a0243b85c0_0_382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0243b85c0_0_388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a0243b85c0_0_388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g3a0243b85c0_0_388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a0243b85c0_0_388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a0243b85c0_0_388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0243b85c0_0_303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a0243b85c0_0_303"/>
          <p:cNvSpPr txBox="1"/>
          <p:nvPr>
            <p:ph idx="11" type="ftr"/>
          </p:nvPr>
        </p:nvSpPr>
        <p:spPr>
          <a:xfrm>
            <a:off x="175613" y="6434560"/>
            <a:ext cx="342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3a0243b85c0_0_303"/>
          <p:cNvSpPr txBox="1"/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" name="Google Shape;104;g3a0243b85c0_0_303"/>
          <p:cNvSpPr txBox="1"/>
          <p:nvPr>
            <p:ph idx="1" type="body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g3a0243b85c0_0_303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g3a0243b85c0_0_303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spcBef>
                <a:spcPts val="0"/>
              </a:spcBef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96" name="Google Shape;1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7219" y="85343"/>
            <a:ext cx="2837725" cy="137703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"/>
          <p:cNvSpPr/>
          <p:nvPr/>
        </p:nvSpPr>
        <p:spPr>
          <a:xfrm>
            <a:off x="379141" y="530352"/>
            <a:ext cx="9464040" cy="7940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Self-Development and Assessment</a:t>
            </a: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SWOT Analysis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Sem-4 Professional Grooming &amp; Personality Development (303193252) 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/>
          </a:p>
        </p:txBody>
      </p:sp>
      <p:sp>
        <p:nvSpPr>
          <p:cNvPr id="203" name="Google Shape;203;p43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the session, students will be able to: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Define SWOT and its four components.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Explain the purpose of SWOT analysis.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Demonstrate how to perform SWOT analysis step by step.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Apply SWOT to real-life personal and professional contexts.</a:t>
            </a:r>
            <a:endParaRPr/>
          </a:p>
        </p:txBody>
      </p:sp>
      <p:pic>
        <p:nvPicPr>
          <p:cNvPr descr="cdc logo png black (1).png" id="204" name="Google Shape;20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43"/>
          <p:cNvCxnSpPr/>
          <p:nvPr/>
        </p:nvCxnSpPr>
        <p:spPr>
          <a:xfrm>
            <a:off x="914400" y="163231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180452941_0_3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5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 b="1" sz="5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180452941_0_3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1.Introduction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2.What is SWOT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3.Purpose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4.Steps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5.Example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6.Activity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8.Conclusion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9.Learning outcome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13" name="Google Shape;213;g3a180452941_0_3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14" name="Google Shape;214;g3a180452941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What is SWOT Analysis?</a:t>
            </a:r>
            <a:endParaRPr/>
          </a:p>
        </p:txBody>
      </p:sp>
      <p:sp>
        <p:nvSpPr>
          <p:cNvPr id="220" name="Google Shape;220;p45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Strengths: Internal positive qualities.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Weaknesses: Internal limitations.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Opportunities: External factors to explore.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Threats: External risks or challenges.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➡ SWOT helps in strategic planning, career assessment, and organizational analysis.</a:t>
            </a:r>
            <a:endParaRPr/>
          </a:p>
        </p:txBody>
      </p:sp>
      <p:pic>
        <p:nvPicPr>
          <p:cNvPr descr="cdc logo png black (1).png" id="221" name="Google Shape;2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45"/>
          <p:cNvCxnSpPr/>
          <p:nvPr/>
        </p:nvCxnSpPr>
        <p:spPr>
          <a:xfrm>
            <a:off x="1000933" y="1587711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0243b85c0_0_661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a0243b85c0_0_661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a0243b85c0_0_661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1" name="Google Shape;231;g3a0243b85c0_0_6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50" y="782825"/>
            <a:ext cx="10859251" cy="524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dc logo png black (1).png" id="232" name="Google Shape;232;g3a0243b85c0_0_6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6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Purpose of SWOT Analysis</a:t>
            </a:r>
            <a:endParaRPr/>
          </a:p>
        </p:txBody>
      </p:sp>
      <p:sp>
        <p:nvSpPr>
          <p:cNvPr id="238" name="Google Shape;238;p46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To assess the current position of an individual or organization.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To identify areas of improvement.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To align strengths with opportunities.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To manage risks and overcome weaknesses.</a:t>
            </a:r>
            <a:endParaRPr/>
          </a:p>
        </p:txBody>
      </p:sp>
      <p:pic>
        <p:nvPicPr>
          <p:cNvPr descr="cdc logo png black (1).png" id="239" name="Google Shape;2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46"/>
          <p:cNvCxnSpPr/>
          <p:nvPr/>
        </p:nvCxnSpPr>
        <p:spPr>
          <a:xfrm>
            <a:off x="914400" y="1676921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7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When SWOT is Required</a:t>
            </a:r>
            <a:endParaRPr/>
          </a:p>
        </p:txBody>
      </p:sp>
      <p:sp>
        <p:nvSpPr>
          <p:cNvPr id="246" name="Google Shape;246;p47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Before starting a new project or job.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During career or academic planning.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While launching a product or business.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For self-development and goal setting.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During performance review or strategy update.</a:t>
            </a:r>
            <a:endParaRPr/>
          </a:p>
        </p:txBody>
      </p:sp>
      <p:pic>
        <p:nvPicPr>
          <p:cNvPr descr="cdc logo png black (1).png" id="247" name="Google Shape;2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47"/>
          <p:cNvCxnSpPr/>
          <p:nvPr/>
        </p:nvCxnSpPr>
        <p:spPr>
          <a:xfrm>
            <a:off x="1023236" y="1598861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8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Steps to Conduct SWOT Analysis</a:t>
            </a:r>
            <a:endParaRPr/>
          </a:p>
        </p:txBody>
      </p:sp>
      <p:sp>
        <p:nvSpPr>
          <p:cNvPr id="254" name="Google Shape;254;p48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Identify internal Strengths and Weaknesses.</a:t>
            </a:r>
            <a:endParaRPr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Identify external Opportunities and Threats.</a:t>
            </a:r>
            <a:endParaRPr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the connections (e.g., how strengths can reduce threats).</a:t>
            </a:r>
            <a:endParaRPr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 Action Plan for improvement and growth.</a:t>
            </a:r>
            <a:endParaRPr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regularly and update based on changes.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cdc logo png black (1).png" id="255" name="Google Shape;2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48"/>
          <p:cNvCxnSpPr/>
          <p:nvPr/>
        </p:nvCxnSpPr>
        <p:spPr>
          <a:xfrm>
            <a:off x="914400" y="1676920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9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592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Example – Personal SWOT Analysis (Student)</a:t>
            </a:r>
            <a:endParaRPr/>
          </a:p>
        </p:txBody>
      </p:sp>
      <p:sp>
        <p:nvSpPr>
          <p:cNvPr id="262" name="Google Shape;262;p49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Strengths – Good communication, teamwork, leadership.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Weaknesses – Poor time management, procrastination.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Opportunities – Internship programs, skill workshops.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Threats – Competition, changing job trends.</a:t>
            </a:r>
            <a:endParaRPr/>
          </a:p>
        </p:txBody>
      </p:sp>
      <p:pic>
        <p:nvPicPr>
          <p:cNvPr descr="cdc logo png black (1).png" id="263" name="Google Shape;2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49"/>
          <p:cNvCxnSpPr/>
          <p:nvPr/>
        </p:nvCxnSpPr>
        <p:spPr>
          <a:xfrm>
            <a:off x="914400" y="1255170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5" name="Google Shape;265;p49"/>
          <p:cNvCxnSpPr/>
          <p:nvPr/>
        </p:nvCxnSpPr>
        <p:spPr>
          <a:xfrm>
            <a:off x="914400" y="1919672"/>
            <a:ext cx="2330605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0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592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Example – Organizational SWOT (Apple Inc.)</a:t>
            </a:r>
            <a:endParaRPr/>
          </a:p>
        </p:txBody>
      </p:sp>
      <p:sp>
        <p:nvSpPr>
          <p:cNvPr id="271" name="Google Shape;271;p50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Strengths – Strong brand, loyal customer base.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Weaknesses – High product prices.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Opportunities – Growth in emerging markets.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Threats – Intense competition, imitation.</a:t>
            </a:r>
            <a:endParaRPr/>
          </a:p>
        </p:txBody>
      </p:sp>
      <p:pic>
        <p:nvPicPr>
          <p:cNvPr descr="cdc logo png black (1).png" id="272" name="Google Shape;2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p50"/>
          <p:cNvCxnSpPr/>
          <p:nvPr/>
        </p:nvCxnSpPr>
        <p:spPr>
          <a:xfrm flipH="1" rot="10800000">
            <a:off x="914400" y="1255170"/>
            <a:ext cx="8809463" cy="17559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" name="Google Shape;274;p50"/>
          <p:cNvCxnSpPr/>
          <p:nvPr/>
        </p:nvCxnSpPr>
        <p:spPr>
          <a:xfrm>
            <a:off x="896111" y="1920573"/>
            <a:ext cx="1189167" cy="1665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Example – Career Growth SWOT</a:t>
            </a:r>
            <a:endParaRPr/>
          </a:p>
        </p:txBody>
      </p:sp>
      <p:sp>
        <p:nvSpPr>
          <p:cNvPr id="280" name="Google Shape;280;p51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Strengths – Technical knowledge, creativity.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Weaknesses – Lack of public speaking experience.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Opportunities – Networking, training sessions.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Threats – Automation, limited job openings.</a:t>
            </a:r>
            <a:endParaRPr/>
          </a:p>
        </p:txBody>
      </p:sp>
      <p:pic>
        <p:nvPicPr>
          <p:cNvPr descr="cdc logo png black (1).png" id="281" name="Google Shape;28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51"/>
          <p:cNvCxnSpPr/>
          <p:nvPr/>
        </p:nvCxnSpPr>
        <p:spPr>
          <a:xfrm>
            <a:off x="914400" y="1654618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0243b85c0_0_0"/>
          <p:cNvSpPr txBox="1"/>
          <p:nvPr>
            <p:ph idx="1" type="body"/>
          </p:nvPr>
        </p:nvSpPr>
        <p:spPr>
          <a:xfrm rot="5400000">
            <a:off x="3948224" y="-1113138"/>
            <a:ext cx="4133400" cy="10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289" name="Google Shape;289;g3a0243b85c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a0243b85c0_0_0"/>
          <p:cNvSpPr/>
          <p:nvPr/>
        </p:nvSpPr>
        <p:spPr>
          <a:xfrm>
            <a:off x="1510913" y="283479"/>
            <a:ext cx="83622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1"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a0243b85c0_0_0"/>
          <p:cNvSpPr/>
          <p:nvPr/>
        </p:nvSpPr>
        <p:spPr>
          <a:xfrm>
            <a:off x="1446500" y="1922525"/>
            <a:ext cx="8781300" cy="4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 Create a SWOT for a Known Brand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students apply SWOT analysis by evaluating a familiar company.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into Small Groups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(3–5 students each).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or Let Groups Choose a Brand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(e.g., McDonald’s, Apple, Nike, Netflix).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a0243b85c0_0_0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3" name="Google Shape;293;g3a0243b85c0_0_0"/>
          <p:cNvCxnSpPr/>
          <p:nvPr/>
        </p:nvCxnSpPr>
        <p:spPr>
          <a:xfrm>
            <a:off x="1446500" y="1063418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0243b85c0_0_100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t/>
            </a:r>
            <a:endParaRPr/>
          </a:p>
        </p:txBody>
      </p:sp>
      <p:sp>
        <p:nvSpPr>
          <p:cNvPr id="299" name="Google Shape;299;g3a0243b85c0_0_100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685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Each Group Creates a SWOT Chart: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Strengths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– What makes the brand successful?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Weaknesses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– Where could it improve?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Opportunities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– New markets, trends, or tech?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Threats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– Competitors, changing customer needs?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00" name="Google Shape;300;g3a0243b85c0_0_100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01" name="Google Shape;301;g3a0243b85c0_0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0243b85c0_0_296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t/>
            </a:r>
            <a:endParaRPr/>
          </a:p>
        </p:txBody>
      </p:sp>
      <p:sp>
        <p:nvSpPr>
          <p:cNvPr id="307" name="Google Shape;307;g3a0243b85c0_0_296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598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Present &amp; Discuss: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Each group presents their SWOT to the class.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12598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Reflection Questions: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12598" lvl="1" marL="685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surprised you in your analysis?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12598" lvl="1" marL="685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can companies use SWOT to plan ahead?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37172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  <a:p>
            <a:pPr indent="-122872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08" name="Google Shape;308;g3a0243b85c0_0_296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09" name="Google Shape;309;g3a0243b85c0_0_2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0243b85c0_0_394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t/>
            </a:r>
            <a:endParaRPr/>
          </a:p>
        </p:txBody>
      </p:sp>
      <p:sp>
        <p:nvSpPr>
          <p:cNvPr id="315" name="Google Shape;315;g3a0243b85c0_0_394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2598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Background:</a:t>
            </a:r>
            <a:endParaRPr b="1" i="1" sz="2800">
              <a:latin typeface="Calibri"/>
              <a:ea typeface="Calibri"/>
              <a:cs typeface="Calibri"/>
              <a:sym typeface="Calibri"/>
            </a:endParaRPr>
          </a:p>
          <a:p>
            <a:pPr indent="-212598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McDonald’s Corporation is one of the world’s largest and most recognized fast-food chains, serving over 69 million customers daily across more than 100 countries. Known for its burgers, fries, and speedy service, McDonald’s relies heavily on its global franchise model.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22872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a0243b85c0_0_394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17" name="Google Shape;317;g3a0243b85c0_0_3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0243b85c0_0_401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227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Arial"/>
              <a:buChar char="•"/>
            </a:pPr>
            <a:r>
              <a:rPr i="1" lang="en-US" sz="4800"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4800"/>
          </a:p>
        </p:txBody>
      </p:sp>
      <p:sp>
        <p:nvSpPr>
          <p:cNvPr id="323" name="Google Shape;323;g3a0243b85c0_0_401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27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 recent years, McDonald’s has faced increasing pressure from health-conscious consumers, changing dietary trends, and rising operational costs. At the same time, the company has been innovating through digital ordering, delivery partnerships, and menu adjustments. The management is considering a new strategy to retain market leadership and adapt to evolving consumer preferences.</a:t>
            </a:r>
            <a:endParaRPr sz="2800"/>
          </a:p>
          <a:p>
            <a:pPr indent="-131445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sp>
        <p:nvSpPr>
          <p:cNvPr id="324" name="Google Shape;324;g3a0243b85c0_0_401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25" name="Google Shape;325;g3a0243b85c0_0_4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6" name="Google Shape;326;g3a0243b85c0_0_401"/>
          <p:cNvCxnSpPr/>
          <p:nvPr/>
        </p:nvCxnSpPr>
        <p:spPr>
          <a:xfrm>
            <a:off x="1523992" y="159104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0243b85c0_0_409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t/>
            </a:r>
            <a:endParaRPr/>
          </a:p>
        </p:txBody>
      </p:sp>
      <p:sp>
        <p:nvSpPr>
          <p:cNvPr id="332" name="Google Shape;332;g3a0243b85c0_0_409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Task:</a:t>
            </a:r>
            <a:endParaRPr b="1" i="1"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As a business consultant, you are asked to perform a SWOT Analysis of McDonald’s to guide strategic planning. Use the facts provided and your own insights.</a:t>
            </a:r>
            <a:endParaRPr/>
          </a:p>
          <a:p>
            <a:pPr indent="-508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333" name="Google Shape;333;g3a0243b85c0_0_409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34" name="Google Shape;334;g3a0243b85c0_0_4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0243b85c0_0_416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SWOT Analysis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340" name="Google Shape;340;g3a0243b85c0_0_416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27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Strengths: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5527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Global brand recognition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5527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Large franchise network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5527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Consistent service and menu worldwide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5527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Strong marketing and advertising power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5527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Advanced logistics and supply chain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31445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41" name="Google Shape;341;g3a0243b85c0_0_416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42" name="Google Shape;342;g3a0243b85c0_0_4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3" name="Google Shape;343;g3a0243b85c0_0_416"/>
          <p:cNvCxnSpPr/>
          <p:nvPr/>
        </p:nvCxnSpPr>
        <p:spPr>
          <a:xfrm>
            <a:off x="1219192" y="159104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0243b85c0_0_424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Weaknesses:</a:t>
            </a:r>
            <a:endParaRPr sz="5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ct val="128571"/>
              <a:buFont typeface="Abril Fatface"/>
              <a:buNone/>
            </a:pPr>
            <a:r>
              <a:t/>
            </a:r>
            <a:endParaRPr b="1"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a0243b85c0_0_424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Public image linked to unhealthy food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High employee turnover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Dependency on franchisees for quality control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Limited menu diversity in some markets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Past criticism for labor practices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a0243b85c0_0_424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51" name="Google Shape;351;g3a0243b85c0_0_4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g3a0243b85c0_0_424"/>
          <p:cNvCxnSpPr/>
          <p:nvPr/>
        </p:nvCxnSpPr>
        <p:spPr>
          <a:xfrm>
            <a:off x="1075942" y="1354571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0243b85c0_0_431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Opportunities: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358" name="Google Shape;358;g3a0243b85c0_0_431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Growing demand for plant-based and healthy food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Tech-driven ordering and personalization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Expansion in developing markets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Eco-friendly packaging and sustainability programs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Strategic partnerships (e.g., Uber Eats, DoorDash)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a0243b85c0_0_431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60" name="Google Shape;360;g3a0243b85c0_0_4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1" name="Google Shape;361;g3a0243b85c0_0_431"/>
          <p:cNvCxnSpPr/>
          <p:nvPr/>
        </p:nvCxnSpPr>
        <p:spPr>
          <a:xfrm>
            <a:off x="1075942" y="16001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0243b85c0_0_438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Threats: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367" name="Google Shape;367;g3a0243b85c0_0_438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Rising competition from fast-casual brands (e.g., Chipotle)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Regulatory pressure on health, wages, and environment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Shifts in consumer behavior toward local or organic food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Fluctuating commodity and labor costs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Reputational risk from social media and lawsuits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a0243b85c0_0_438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69" name="Google Shape;369;g3a0243b85c0_0_4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g3a0243b85c0_0_438"/>
          <p:cNvCxnSpPr/>
          <p:nvPr/>
        </p:nvCxnSpPr>
        <p:spPr>
          <a:xfrm>
            <a:off x="1075942" y="16001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0243b85c0_0_445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Discussion Questions:</a:t>
            </a:r>
            <a:endParaRPr sz="5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ct val="75000"/>
              <a:buFont typeface="Abril Fatface"/>
              <a:buNone/>
            </a:pPr>
            <a:r>
              <a:t/>
            </a:r>
            <a:endParaRPr b="1" sz="4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a0243b85c0_0_445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can McDonald’s turn its weaknesses into strengths?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Which opportunities should it prioritize for the next 5 years?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can McDonald’s address threats like the healthy eating trend?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role does innovation play in staying competitive?</a:t>
            </a:r>
            <a:endParaRPr/>
          </a:p>
          <a:p>
            <a:pPr indent="-508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a0243b85c0_0_445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378" name="Google Shape;378;g3a0243b85c0_0_4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9" name="Google Shape;379;g3a0243b85c0_0_445"/>
          <p:cNvCxnSpPr/>
          <p:nvPr/>
        </p:nvCxnSpPr>
        <p:spPr>
          <a:xfrm>
            <a:off x="1075942" y="1246021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0243b85c0_0_453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5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SWOT Analysis: Taylor Swift</a:t>
            </a:r>
            <a:endParaRPr sz="5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a0243b85c0_0_453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Musical Versatility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Successfully transitioned across genres (country, pop, indie, alternative).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Songwriting Skills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Acclaimed for deeply personal and relatable lyrics.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Massive Fanbase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Loyal global following (“Swifties”) ensures sustained popularity.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a0243b85c0_0_453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cxnSp>
        <p:nvCxnSpPr>
          <p:cNvPr id="388" name="Google Shape;388;g3a0243b85c0_0_453"/>
          <p:cNvCxnSpPr/>
          <p:nvPr/>
        </p:nvCxnSpPr>
        <p:spPr>
          <a:xfrm>
            <a:off x="914392" y="1246021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389" name="Google Shape;389;g3a0243b85c0_0_4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5747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0243b85c0_0_461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Strength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a0243b85c0_0_461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Acumen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Re-recording of her old albums (Taylor’s Versions) is a strategic power move for ownership and revenue.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Brand Partnerships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Collaborations with major brands (e.g., Apple, Coca-Cola) add to her marketability.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Cultural Influence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Recognized as a feminist voice and advocate for artists' rights.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a0243b85c0_0_461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cxnSp>
        <p:nvCxnSpPr>
          <p:cNvPr id="398" name="Google Shape;398;g3a0243b85c0_0_461"/>
          <p:cNvCxnSpPr/>
          <p:nvPr/>
        </p:nvCxnSpPr>
        <p:spPr>
          <a:xfrm>
            <a:off x="914392" y="159104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399" name="Google Shape;399;g3a0243b85c0_0_4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4269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0243b85c0_0_469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Weaknesses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a0243b85c0_0_469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Overexposure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Constant media attention can lead to public fatigue or backlash.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Polarizing Public Image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While beloved by many, her outspoken views have drawn criticism from some.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Expectations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Every new release is under intense scrutiny from fans, critics, and media.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Life in Spotlight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Relationships and feuds often become tabloid headlines, distracting from her work.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a0243b85c0_0_469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cxnSp>
        <p:nvCxnSpPr>
          <p:cNvPr id="408" name="Google Shape;408;g3a0243b85c0_0_469"/>
          <p:cNvCxnSpPr/>
          <p:nvPr/>
        </p:nvCxnSpPr>
        <p:spPr>
          <a:xfrm>
            <a:off x="914392" y="159104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409" name="Google Shape;409;g3a0243b85c0_0_4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0243b85c0_0_476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Opportunities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416" name="Google Shape;416;g3a0243b85c0_0_476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Touring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Record-breaking Eras Tour boosts visibility and revenue.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Film &amp; TV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Potential to expand further into directing, producing, or acting (she's directed short films and may explore more).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a0243b85c0_0_476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cxnSp>
        <p:nvCxnSpPr>
          <p:cNvPr id="418" name="Google Shape;418;g3a0243b85c0_0_476"/>
          <p:cNvCxnSpPr/>
          <p:nvPr/>
        </p:nvCxnSpPr>
        <p:spPr>
          <a:xfrm>
            <a:off x="914392" y="159104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419" name="Google Shape;419;g3a0243b85c0_0_4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0243b85c0_0_483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a0243b85c0_0_483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Impact &amp; Philanthropy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Can leverage influence for social justice and charitable causes.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Ventures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Opportunities in fashion, publishing (autobiography or poetry), or tech (apps, platforms).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a0243b85c0_0_483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pic>
        <p:nvPicPr>
          <p:cNvPr descr="cdc logo png black (1).png" id="428" name="Google Shape;428;g3a0243b85c0_0_4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0243b85c0_0_490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Threats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435" name="Google Shape;435;g3a0243b85c0_0_490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 Controversies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Social media misinterpretations or old controversies can resurface.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Competitive Industry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Newer artists and evolving trends could impact dominance.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 &amp; Burnout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Demanding schedule from touring, creating, and promoting can take a toll.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Intellectual Property Issues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Despite re-recordings, music rights and licensing can still pose challenges.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a0243b85c0_0_490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</a:rPr>
              <a:t>‹#›</a:t>
            </a:fld>
            <a:endParaRPr sz="2000">
              <a:solidFill>
                <a:schemeClr val="lt1"/>
              </a:solidFill>
            </a:endParaRPr>
          </a:p>
        </p:txBody>
      </p:sp>
      <p:cxnSp>
        <p:nvCxnSpPr>
          <p:cNvPr id="437" name="Google Shape;437;g3a0243b85c0_0_490"/>
          <p:cNvCxnSpPr/>
          <p:nvPr/>
        </p:nvCxnSpPr>
        <p:spPr>
          <a:xfrm>
            <a:off x="914392" y="159104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438" name="Google Shape;438;g3a0243b85c0_0_4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2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Using SWOT Results</a:t>
            </a:r>
            <a:endParaRPr/>
          </a:p>
        </p:txBody>
      </p:sp>
      <p:sp>
        <p:nvSpPr>
          <p:cNvPr id="444" name="Google Shape;444;p52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Develop personal development plans.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Match strengths with external opportunities.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Convert weaknesses into learning goals.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Create proactive strategies to manage threats.</a:t>
            </a:r>
            <a:endParaRPr/>
          </a:p>
        </p:txBody>
      </p:sp>
      <p:pic>
        <p:nvPicPr>
          <p:cNvPr descr="cdc logo png black (1).png" id="445" name="Google Shape;44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" name="Google Shape;446;p52"/>
          <p:cNvCxnSpPr/>
          <p:nvPr/>
        </p:nvCxnSpPr>
        <p:spPr>
          <a:xfrm>
            <a:off x="914400" y="1688071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3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/>
          </a:p>
        </p:txBody>
      </p:sp>
      <p:sp>
        <p:nvSpPr>
          <p:cNvPr id="452" name="Google Shape;452;p53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Formative Assessment: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SWOT Worksheet activity (individual reflection).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Peer discussion and feedback session.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Summative Assessment: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Submission of personal SWOT report with action plan.</a:t>
            </a:r>
            <a:endParaRPr/>
          </a:p>
        </p:txBody>
      </p:sp>
      <p:pic>
        <p:nvPicPr>
          <p:cNvPr descr="cdc logo png black (1).png" id="453" name="Google Shape;45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" name="Google Shape;454;p53"/>
          <p:cNvCxnSpPr/>
          <p:nvPr/>
        </p:nvCxnSpPr>
        <p:spPr>
          <a:xfrm>
            <a:off x="896111" y="164346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4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Engagement Strategies</a:t>
            </a:r>
            <a:endParaRPr/>
          </a:p>
        </p:txBody>
      </p:sp>
      <p:sp>
        <p:nvSpPr>
          <p:cNvPr id="460" name="Google Shape;460;p54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Interactive Activity: Students create their own SWOT chart.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Group Discussion: Compare SWOT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analysis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of different industries.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Case Study: SWOT of a popular brand.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Role Play: Using SWOT for career interviews.</a:t>
            </a:r>
            <a:endParaRPr/>
          </a:p>
        </p:txBody>
      </p:sp>
      <p:pic>
        <p:nvPicPr>
          <p:cNvPr descr="cdc logo png black (1).png" id="461" name="Google Shape;46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2" name="Google Shape;462;p54"/>
          <p:cNvCxnSpPr/>
          <p:nvPr/>
        </p:nvCxnSpPr>
        <p:spPr>
          <a:xfrm>
            <a:off x="896111" y="1688071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0243b85c0_0_591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Self-Reflection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a0243b85c0_0_591"/>
          <p:cNvSpPr txBox="1"/>
          <p:nvPr>
            <p:ph idx="1" type="body"/>
          </p:nvPr>
        </p:nvSpPr>
        <p:spPr>
          <a:xfrm>
            <a:off x="914400" y="1919675"/>
            <a:ext cx="9915000" cy="465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students to take 5–10 minutes to reflect on their personal, academic, and professional traits. Encourage honest and constructive self-evaluation.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Prompt them with guiding questions such as: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you naturally good at?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skills do you need to improve?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upcoming opportunities could help your career?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obstacles or challenges do you face?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a0243b85c0_0_591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1" name="Google Shape;471;g3a0243b85c0_0_591"/>
          <p:cNvCxnSpPr/>
          <p:nvPr/>
        </p:nvCxnSpPr>
        <p:spPr>
          <a:xfrm>
            <a:off x="896111" y="1688071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472" name="Google Shape;472;g3a0243b85c0_0_5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0243b85c0_0_599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reating the SWOT Chart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a0243b85c0_0_599"/>
          <p:cNvSpPr txBox="1"/>
          <p:nvPr>
            <p:ph idx="1" type="body"/>
          </p:nvPr>
        </p:nvSpPr>
        <p:spPr>
          <a:xfrm>
            <a:off x="914400" y="1919675"/>
            <a:ext cx="10476900" cy="476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draw 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4-quadrant chart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paper or fill in a provided template: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a0243b85c0_0_599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81" name="Google Shape;481;g3a0243b85c0_0_599"/>
          <p:cNvGraphicFramePr/>
          <p:nvPr/>
        </p:nvGraphicFramePr>
        <p:xfrm>
          <a:off x="914400" y="322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{EFC433A3-407C-476F-A9C3-777DA259ED2A}</a:tableStyleId>
              </a:tblPr>
              <a:tblGrid>
                <a:gridCol w="4621150"/>
                <a:gridCol w="5293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Strengths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Weaknesses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(List personal strengths)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(List areas of improvement)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82" name="Google Shape;482;g3a0243b85c0_0_599"/>
          <p:cNvGraphicFramePr/>
          <p:nvPr/>
        </p:nvGraphicFramePr>
        <p:xfrm>
          <a:off x="849600" y="467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{EFC433A3-407C-476F-A9C3-777DA259ED2A}</a:tableStyleId>
              </a:tblPr>
              <a:tblGrid>
                <a:gridCol w="6433800"/>
                <a:gridCol w="3610800"/>
              </a:tblGrid>
              <a:tr h="977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Opportunities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Threats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83" name="Google Shape;483;g3a0243b85c0_0_599"/>
          <p:cNvGraphicFramePr/>
          <p:nvPr/>
        </p:nvGraphicFramePr>
        <p:xfrm>
          <a:off x="905250" y="518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{EFC433A3-407C-476F-A9C3-777DA259ED2A}</a:tableStyleId>
              </a:tblPr>
              <a:tblGrid>
                <a:gridCol w="4572000"/>
              </a:tblGrid>
              <a:tr h="113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(List external opportunities)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84" name="Google Shape;484;g3a0243b85c0_0_599"/>
          <p:cNvGraphicFramePr/>
          <p:nvPr/>
        </p:nvGraphicFramePr>
        <p:xfrm>
          <a:off x="5845888" y="525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{EFC433A3-407C-476F-A9C3-777DA259ED2A}</a:tableStyleId>
              </a:tblPr>
              <a:tblGrid>
                <a:gridCol w="4157825"/>
              </a:tblGrid>
              <a:tr h="78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</a:t>
                      </a: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potential challenges)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85" name="Google Shape;485;g3a0243b85c0_0_599"/>
          <p:cNvCxnSpPr/>
          <p:nvPr/>
        </p:nvCxnSpPr>
        <p:spPr>
          <a:xfrm>
            <a:off x="896111" y="1688071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486" name="Google Shape;486;g3a0243b85c0_0_5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0243b85c0_0_630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Sharing and Discussion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a0243b85c0_0_630"/>
          <p:cNvSpPr txBox="1"/>
          <p:nvPr>
            <p:ph idx="1" type="body"/>
          </p:nvPr>
        </p:nvSpPr>
        <p:spPr>
          <a:xfrm>
            <a:off x="905250" y="1919675"/>
            <a:ext cx="9915000" cy="468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share one key insight from their SWOT chart with the class or in small groups.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instructor facilitates a discussion, highlighting how understanding one’s SWOT can guide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career planning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decision-making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setting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Constructive feedback is provided by peers and the instructor to promote mutual learning.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a0243b85c0_0_630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95" name="Google Shape;495;g3a0243b85c0_0_630"/>
          <p:cNvCxnSpPr/>
          <p:nvPr/>
        </p:nvCxnSpPr>
        <p:spPr>
          <a:xfrm>
            <a:off x="896111" y="1688071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496" name="Google Shape;496;g3a0243b85c0_0_6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0243b85c0_0_638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Action Planning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a0243b85c0_0_638"/>
          <p:cNvSpPr txBox="1"/>
          <p:nvPr>
            <p:ph idx="1" type="body"/>
          </p:nvPr>
        </p:nvSpPr>
        <p:spPr>
          <a:xfrm>
            <a:off x="914400" y="1537150"/>
            <a:ext cx="9915000" cy="520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the SWOT chart is completed, students develop 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Action Plan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answering: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I use my strengths more effectively?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steps can I take to overcome my weaknesses?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opportunities can I pursue in the next 6 months?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I minimize or manage my threats?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reflection turns the SWOT chart into a practical development tool.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a0243b85c0_0_638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05" name="Google Shape;505;g3a0243b85c0_0_638"/>
          <p:cNvCxnSpPr/>
          <p:nvPr/>
        </p:nvCxnSpPr>
        <p:spPr>
          <a:xfrm>
            <a:off x="896111" y="1688071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506" name="Google Shape;506;g3a0243b85c0_0_6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512" name="Google Shape;512;p55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MindTools. (2024). SWOT Analysis – How to Develop a Strategy for Success.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Harvard Business Review – Using SWOT in Business Strategy.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Robbins, S.P., &amp; Judge, T.A. (2022). Organizational Behavior.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Canva Education Templates – Visual SWOT Charts.</a:t>
            </a:r>
            <a:endParaRPr/>
          </a:p>
        </p:txBody>
      </p:sp>
      <p:pic>
        <p:nvPicPr>
          <p:cNvPr descr="cdc logo png black (1).png" id="513" name="Google Shape;5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4" name="Google Shape;514;p55"/>
          <p:cNvCxnSpPr/>
          <p:nvPr/>
        </p:nvCxnSpPr>
        <p:spPr>
          <a:xfrm>
            <a:off x="914400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/>
          </a:p>
        </p:txBody>
      </p:sp>
      <p:sp>
        <p:nvSpPr>
          <p:cNvPr id="520" name="Google Shape;520;p56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SWOT Analysis Explained – https://www.youtube.com/watch?v=GNXYI10Po6A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Personal SWOT Analysis for Career Planning – https://www.youtube.com/watch?v=3Tv0A1K3w2E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How to Use SWOT for Business Success – https://www.youtube.com/watch?v=0i6Yv0xDczA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dc logo png black (1).png" id="521" name="Google Shape;52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2" name="Google Shape;522;p56"/>
          <p:cNvCxnSpPr/>
          <p:nvPr/>
        </p:nvCxnSpPr>
        <p:spPr>
          <a:xfrm>
            <a:off x="914400" y="164346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01dc8169b_0_0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a01dc8169b_0_0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SWOT Analysis in Real Life – Case Studies – https://www.youtube.com/watch?v=yuw1Z5yD4G8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5. Developing Self Awareness through SWOT – https://www.youtube.com/watch?v=KMEeXhHjbdE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a01dc8169b_0_0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1" name="Google Shape;531;g3a01dc8169b_0_0"/>
          <p:cNvCxnSpPr/>
          <p:nvPr/>
        </p:nvCxnSpPr>
        <p:spPr>
          <a:xfrm>
            <a:off x="914400" y="134786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532" name="Google Shape;532;g3a01dc8169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4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/>
          </a:p>
        </p:txBody>
      </p:sp>
      <p:sp>
        <p:nvSpPr>
          <p:cNvPr id="538" name="Google Shape;538;p44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the session, students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Identify Strengths, Weaknesses, Opportunities, and Threats.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Conduct a structured SWOT analysis.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Interpret findings for strategic decisions.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Use SWOT as a lifelong self-assessment tool.</a:t>
            </a:r>
            <a:endParaRPr/>
          </a:p>
        </p:txBody>
      </p:sp>
      <p:pic>
        <p:nvPicPr>
          <p:cNvPr descr="cdc logo png black (1).png" id="539" name="Google Shape;53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0" name="Google Shape;540;p44"/>
          <p:cNvCxnSpPr/>
          <p:nvPr/>
        </p:nvCxnSpPr>
        <p:spPr>
          <a:xfrm>
            <a:off x="914400" y="1632315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180452941_0_12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a180452941_0_12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SWOT Analysis helps identify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strengths, weaknesses, opportunities, and threats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effectively.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enhances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self-awareness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supports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decision-making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goal-oriented planning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continuous improvement.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Assists in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adapting to changes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building on competitive advantages.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a180452941_0_12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549" name="Google Shape;549;g3a180452941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180452941_0_21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a180452941_0_21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Promotes 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proactive and analytical mindset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personal and professional growth.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Acts as 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long-term success and sustainable development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a180452941_0_21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558" name="Google Shape;558;g3a180452941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descr="cdc logo png black (1).png" id="565" name="Google Shape;5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26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2024-01-11T09:03:24Z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