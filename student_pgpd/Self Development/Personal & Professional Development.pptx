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Abril Fatfac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giRCbjcWdvgHwhPGSHCoO5mGew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brilFatface-regular.fntdata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1811cb17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1811cb17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a1811cb17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1" showMasterSp="0">
  <p:cSld name="About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/>
          <p:nvPr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8"/>
          <p:cNvSpPr/>
          <p:nvPr/>
        </p:nvSpPr>
        <p:spPr>
          <a:xfrm>
            <a:off x="8991644" y="3657675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8"/>
          <p:cNvSpPr/>
          <p:nvPr/>
        </p:nvSpPr>
        <p:spPr>
          <a:xfrm rot="10800000">
            <a:off x="0" y="-5"/>
            <a:ext cx="2286000" cy="2285973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8"/>
          <p:cNvSpPr/>
          <p:nvPr/>
        </p:nvSpPr>
        <p:spPr>
          <a:xfrm rot="5400000">
            <a:off x="-433923" y="554625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8"/>
          <p:cNvSpPr txBox="1"/>
          <p:nvPr>
            <p:ph type="title"/>
          </p:nvPr>
        </p:nvSpPr>
        <p:spPr>
          <a:xfrm>
            <a:off x="1371599" y="1478396"/>
            <a:ext cx="3710355" cy="3445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body"/>
          </p:nvPr>
        </p:nvSpPr>
        <p:spPr>
          <a:xfrm>
            <a:off x="5360465" y="1477963"/>
            <a:ext cx="5536135" cy="344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/>
          <p:nvPr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9"/>
          <p:cNvSpPr/>
          <p:nvPr/>
        </p:nvSpPr>
        <p:spPr>
          <a:xfrm rot="10800000">
            <a:off x="1" y="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9"/>
          <p:cNvSpPr/>
          <p:nvPr/>
        </p:nvSpPr>
        <p:spPr>
          <a:xfrm>
            <a:off x="8991644" y="3657688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9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/>
          <p:nvPr>
            <p:ph type="ctrTitle"/>
          </p:nvPr>
        </p:nvSpPr>
        <p:spPr>
          <a:xfrm>
            <a:off x="1249326" y="919716"/>
            <a:ext cx="8504275" cy="3551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" type="subTitle"/>
          </p:nvPr>
        </p:nvSpPr>
        <p:spPr>
          <a:xfrm>
            <a:off x="1249326" y="4795284"/>
            <a:ext cx="8504275" cy="1084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31"/>
          <p:cNvSpPr txBox="1"/>
          <p:nvPr>
            <p:ph idx="10" type="dt"/>
          </p:nvPr>
        </p:nvSpPr>
        <p:spPr>
          <a:xfrm>
            <a:off x="8964706" y="6433202"/>
            <a:ext cx="2426446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2" type="sldNum"/>
          </p:nvPr>
        </p:nvSpPr>
        <p:spPr>
          <a:xfrm>
            <a:off x="11391152" y="6433203"/>
            <a:ext cx="702781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/>
          <p:nvPr>
            <p:ph type="title"/>
          </p:nvPr>
        </p:nvSpPr>
        <p:spPr>
          <a:xfrm>
            <a:off x="1524000" y="1320800"/>
            <a:ext cx="9144000" cy="309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" type="body"/>
          </p:nvPr>
        </p:nvSpPr>
        <p:spPr>
          <a:xfrm>
            <a:off x="1523999" y="4589463"/>
            <a:ext cx="91440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32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idx="1" type="body"/>
          </p:nvPr>
        </p:nvSpPr>
        <p:spPr>
          <a:xfrm>
            <a:off x="1408813" y="2163725"/>
            <a:ext cx="4610986" cy="401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2" type="body"/>
          </p:nvPr>
        </p:nvSpPr>
        <p:spPr>
          <a:xfrm>
            <a:off x="6257260" y="2163725"/>
            <a:ext cx="4853763" cy="4013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34"/>
          <p:cNvSpPr txBox="1"/>
          <p:nvPr>
            <p:ph idx="2" type="body"/>
          </p:nvPr>
        </p:nvSpPr>
        <p:spPr>
          <a:xfrm>
            <a:off x="839788" y="2635623"/>
            <a:ext cx="5157787" cy="355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34"/>
          <p:cNvSpPr txBox="1"/>
          <p:nvPr>
            <p:ph idx="4" type="body"/>
          </p:nvPr>
        </p:nvSpPr>
        <p:spPr>
          <a:xfrm>
            <a:off x="6172200" y="2635623"/>
            <a:ext cx="5183188" cy="355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5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" name="Google Shape;71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3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38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9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1" type="body"/>
          </p:nvPr>
        </p:nvSpPr>
        <p:spPr>
          <a:xfrm rot="5400000">
            <a:off x="3948184" y="-1113097"/>
            <a:ext cx="4133481" cy="10192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9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0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0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8844703" y="3732560"/>
            <a:ext cx="3352193" cy="3125440"/>
          </a:xfrm>
          <a:custGeom>
            <a:rect b="b" l="l" r="r" t="t"/>
            <a:pathLst>
              <a:path extrusionOk="0" h="3125440" w="3352193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b="0" i="0" sz="4000" u="none" cap="none" strike="noStrik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youtu.be/MDxIHzI66Os?si=B_MC_VTumac4FirChttps://youtu.be/QOXLmF0wvOY?si=6HyLmaQD2PQsPbpu" TargetMode="External"/><Relationship Id="rId4" Type="http://schemas.openxmlformats.org/officeDocument/2006/relationships/hyperlink" Target="https://youtu.be/MDxIHzI66Os?si=B_MC_VTumac4FirChttps://youtu.be/QOXLmF0wvOY?si=6HyLmaQD2PQsPbpu" TargetMode="External"/><Relationship Id="rId5" Type="http://schemas.openxmlformats.org/officeDocument/2006/relationships/hyperlink" Target="https://youtu.be/2UAYoj4pelk?si=bHqI4u_Qk5DlZYeB" TargetMode="External"/><Relationship Id="rId6" Type="http://schemas.openxmlformats.org/officeDocument/2006/relationships/hyperlink" Target="https://youtu.be/uvtXuxl7KXI?si=qkuMD0Bk60aC9Z4r" TargetMode="External"/><Relationship Id="rId7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dc logo png black (1)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7219" y="85343"/>
            <a:ext cx="2837725" cy="137703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914400" y="1444752"/>
            <a:ext cx="9464040" cy="5232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- 1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Self-Assessment and Development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Yourself to Grow Professionally and Personally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Sem-4 Professional Grooming &amp; Personality Development (303193252) 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4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106" name="Google Shape;106;p44"/>
          <p:cNvSpPr txBox="1"/>
          <p:nvPr>
            <p:ph idx="1" type="body"/>
          </p:nvPr>
        </p:nvSpPr>
        <p:spPr>
          <a:xfrm>
            <a:off x="1467853" y="1917899"/>
            <a:ext cx="9525000" cy="386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00"/>
              <a:t>By the end of this session, learners will be able to: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Understand the importance of self-assessment.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Identify personal strengths, weaknesses, and opportunities for growth.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Develop a structured plan for personal and professional development.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Utilize feedback effectively for self-improvement.</a:t>
            </a:r>
            <a:endParaRPr/>
          </a:p>
        </p:txBody>
      </p:sp>
      <p:sp>
        <p:nvSpPr>
          <p:cNvPr id="107" name="Google Shape;107;p44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108" name="Google Shape;10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44"/>
          <p:cNvCxnSpPr/>
          <p:nvPr/>
        </p:nvCxnSpPr>
        <p:spPr>
          <a:xfrm>
            <a:off x="1381748" y="1552674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1811cb173_0_0"/>
          <p:cNvSpPr txBox="1"/>
          <p:nvPr>
            <p:ph type="title"/>
          </p:nvPr>
        </p:nvSpPr>
        <p:spPr>
          <a:xfrm>
            <a:off x="1381748" y="246183"/>
            <a:ext cx="9525000" cy="1919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Topics to be Covered </a:t>
            </a:r>
            <a:endParaRPr b="1"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a1811cb173_0_0"/>
          <p:cNvSpPr txBox="1"/>
          <p:nvPr>
            <p:ph idx="1" type="body"/>
          </p:nvPr>
        </p:nvSpPr>
        <p:spPr>
          <a:xfrm>
            <a:off x="1371600" y="1600200"/>
            <a:ext cx="9525000" cy="506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1.Introduction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2.Importance of Self Development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3.Tools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4.Steps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5.Personal Development Plan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6.Activity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7.Conclusion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8.Learning outcome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a1811cb173_0_0"/>
          <p:cNvSpPr txBox="1"/>
          <p:nvPr>
            <p:ph idx="12" type="sldNum"/>
          </p:nvPr>
        </p:nvSpPr>
        <p:spPr>
          <a:xfrm>
            <a:off x="10896600" y="5983104"/>
            <a:ext cx="1295400" cy="87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8" name="Google Shape;118;g3a1811cb173_0_0"/>
          <p:cNvCxnSpPr/>
          <p:nvPr/>
        </p:nvCxnSpPr>
        <p:spPr>
          <a:xfrm>
            <a:off x="1381748" y="1309535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19" name="Google Shape;119;g3a1811cb17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1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1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  <a:buSzPct val="69498"/>
              <a:buFont typeface="Arial"/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Theme Introduction</a:t>
            </a:r>
            <a:endParaRPr/>
          </a:p>
          <a:p>
            <a:pPr indent="0" lvl="1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61776"/>
              <a:buFont typeface="Arial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The slide introduces the theme of self-development and assessment, setting the tone for the presentation.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  <a:buSzPct val="69498"/>
              <a:buFont typeface="Arial"/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Importance of Growth</a:t>
            </a:r>
            <a:endParaRPr/>
          </a:p>
          <a:p>
            <a:pPr indent="0" lvl="1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61776"/>
              <a:buFont typeface="Arial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Emphasizes enhancing personal and professional skills for career growth and advancement.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</p:txBody>
      </p:sp>
      <p:sp>
        <p:nvSpPr>
          <p:cNvPr id="126" name="Google Shape;126;p41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3D stairs design" id="127" name="Google Shape;127;p41"/>
          <p:cNvPicPr preferRelativeResize="0"/>
          <p:nvPr/>
        </p:nvPicPr>
        <p:blipFill rotWithShape="1">
          <a:blip r:embed="rId3">
            <a:alphaModFix/>
          </a:blip>
          <a:srcRect b="0" l="21497" r="14585" t="0"/>
          <a:stretch/>
        </p:blipFill>
        <p:spPr>
          <a:xfrm>
            <a:off x="5975097" y="5116032"/>
            <a:ext cx="4044294" cy="15753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dc logo png black (1).png" id="128" name="Google Shape;12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41"/>
          <p:cNvCxnSpPr/>
          <p:nvPr/>
        </p:nvCxnSpPr>
        <p:spPr>
          <a:xfrm>
            <a:off x="1381748" y="1516460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6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lang="en-US" sz="4800"/>
              <a:t>Introd</a:t>
            </a: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4800"/>
              <a:t>ction</a:t>
            </a:r>
            <a:endParaRPr sz="4800"/>
          </a:p>
        </p:txBody>
      </p:sp>
      <p:sp>
        <p:nvSpPr>
          <p:cNvPr id="135" name="Google Shape;135;p46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Self-assessment is the foundation for personal growth and professional development.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Regular reflection helps individuals align goals with strengths and address areas for improvement.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Development plans ensure structured and measurable progress.</a:t>
            </a:r>
            <a:endParaRPr/>
          </a:p>
        </p:txBody>
      </p:sp>
      <p:sp>
        <p:nvSpPr>
          <p:cNvPr id="136" name="Google Shape;136;p46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137" name="Google Shape;13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46"/>
          <p:cNvCxnSpPr/>
          <p:nvPr/>
        </p:nvCxnSpPr>
        <p:spPr>
          <a:xfrm>
            <a:off x="1371600" y="151040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7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Importance of Self-Development</a:t>
            </a:r>
            <a:br>
              <a:rPr b="1" lang="en-US" sz="4800">
                <a:latin typeface="Calibri"/>
                <a:ea typeface="Calibri"/>
                <a:cs typeface="Calibri"/>
                <a:sym typeface="Calibri"/>
              </a:rPr>
            </a:br>
            <a:endParaRPr sz="4800"/>
          </a:p>
        </p:txBody>
      </p:sp>
      <p:sp>
        <p:nvSpPr>
          <p:cNvPr id="144" name="Google Shape;144;p47"/>
          <p:cNvSpPr txBox="1"/>
          <p:nvPr>
            <p:ph idx="1" type="body"/>
          </p:nvPr>
        </p:nvSpPr>
        <p:spPr>
          <a:xfrm>
            <a:off x="1545817" y="1734628"/>
            <a:ext cx="9525000" cy="4454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 Enhances self-awareness and decision-making.</a:t>
            </a:r>
            <a:endParaRPr sz="2800"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Identifies skill gaps for professional growth.</a:t>
            </a:r>
            <a:endParaRPr sz="2800"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Encourages accountability and proactive learning.</a:t>
            </a:r>
            <a:endParaRPr sz="2800"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Supports career planning and continuous improvement.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7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146" name="Google Shape;1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47"/>
          <p:cNvCxnSpPr/>
          <p:nvPr/>
        </p:nvCxnSpPr>
        <p:spPr>
          <a:xfrm>
            <a:off x="1545817" y="1187655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Wooden toy blocks with single word growth and red arrow symbols on yellow wall." id="148" name="Google Shape;148;p47"/>
          <p:cNvPicPr preferRelativeResize="0"/>
          <p:nvPr/>
        </p:nvPicPr>
        <p:blipFill rotWithShape="1">
          <a:blip r:embed="rId4">
            <a:alphaModFix/>
          </a:blip>
          <a:srcRect b="1" l="37336" r="17870" t="0"/>
          <a:stretch/>
        </p:blipFill>
        <p:spPr>
          <a:xfrm>
            <a:off x="7030890" y="4287725"/>
            <a:ext cx="3499585" cy="223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8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Tools for Self-Assessment</a:t>
            </a:r>
            <a:endParaRPr b="1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8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SWOT Analysis (Strengths, Weaknesses, Opportunities, Threats)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Personality Tests (MBTI, DISC)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Skills and Competency Inventories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Feedback from peers, mentors, and supervisors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Journaling and reflective exercises</a:t>
            </a:r>
            <a:endParaRPr/>
          </a:p>
        </p:txBody>
      </p:sp>
      <p:sp>
        <p:nvSpPr>
          <p:cNvPr id="155" name="Google Shape;155;p48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156" name="Google Shape;15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48"/>
          <p:cNvCxnSpPr/>
          <p:nvPr/>
        </p:nvCxnSpPr>
        <p:spPr>
          <a:xfrm>
            <a:off x="1381748" y="1720049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9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Steps in Self-Assessment</a:t>
            </a:r>
            <a:endParaRPr b="1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9"/>
          <p:cNvSpPr txBox="1"/>
          <p:nvPr>
            <p:ph idx="1" type="body"/>
          </p:nvPr>
        </p:nvSpPr>
        <p:spPr>
          <a:xfrm>
            <a:off x="1371600" y="2274033"/>
            <a:ext cx="9525000" cy="3992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2800"/>
              <a:t>Reflect</a:t>
            </a:r>
            <a:r>
              <a:rPr lang="en-US" sz="2800"/>
              <a:t> on past experiences and achievements.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2800"/>
              <a:t>Collect feedback</a:t>
            </a:r>
            <a:r>
              <a:rPr lang="en-US" sz="2800"/>
              <a:t> from trusted sources.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2800"/>
              <a:t>Analyze results</a:t>
            </a:r>
            <a:r>
              <a:rPr lang="en-US" sz="2800"/>
              <a:t> to identify gaps and strengths.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2800"/>
              <a:t>Set goals</a:t>
            </a:r>
            <a:r>
              <a:rPr lang="en-US" sz="2800"/>
              <a:t> for skill improvement and growth.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2800"/>
              <a:t>Implement actions</a:t>
            </a:r>
            <a:r>
              <a:rPr lang="en-US" sz="2800"/>
              <a:t> and monitor progress.</a:t>
            </a:r>
            <a:endParaRPr/>
          </a:p>
        </p:txBody>
      </p:sp>
      <p:sp>
        <p:nvSpPr>
          <p:cNvPr id="164" name="Google Shape;164;p49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165" name="Google Shape;16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3753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49"/>
          <p:cNvCxnSpPr/>
          <p:nvPr/>
        </p:nvCxnSpPr>
        <p:spPr>
          <a:xfrm>
            <a:off x="1381748" y="1574211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0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Personal Development Plan (PDP)</a:t>
            </a:r>
            <a:endParaRPr b="1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0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Define short-term and long-term goals.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Identify skills to improve and actions to take.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Set timelines and milestones for each goal.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Review and adjust the plan regularly.</a:t>
            </a:r>
            <a:endParaRPr/>
          </a:p>
        </p:txBody>
      </p:sp>
      <p:sp>
        <p:nvSpPr>
          <p:cNvPr id="173" name="Google Shape;173;p50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ight Post-it Notes" id="174" name="Google Shape;17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45" y="4302745"/>
            <a:ext cx="2926603" cy="1725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dc logo png black (1).png" id="175" name="Google Shape;17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50"/>
          <p:cNvCxnSpPr/>
          <p:nvPr/>
        </p:nvCxnSpPr>
        <p:spPr>
          <a:xfrm>
            <a:off x="1512712" y="1553181"/>
            <a:ext cx="8582264" cy="53946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1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Continuous Learning Strategies</a:t>
            </a:r>
            <a:endParaRPr b="1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1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Attend workshops and training programs.</a:t>
            </a:r>
            <a:endParaRPr sz="2800"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Engage in online courses and webinars.</a:t>
            </a:r>
            <a:endParaRPr sz="2800"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Read books and industry publications.</a:t>
            </a:r>
            <a:endParaRPr sz="2800"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Apply new skills in real-life scenarios.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1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own arrow facing the opposite direction blue arrows." id="184" name="Google Shape;184;p51"/>
          <p:cNvPicPr preferRelativeResize="0"/>
          <p:nvPr/>
        </p:nvPicPr>
        <p:blipFill rotWithShape="1">
          <a:blip r:embed="rId3">
            <a:alphaModFix/>
          </a:blip>
          <a:srcRect b="1" l="30506" r="0" t="0"/>
          <a:stretch/>
        </p:blipFill>
        <p:spPr>
          <a:xfrm>
            <a:off x="6721502" y="4283241"/>
            <a:ext cx="3902934" cy="2223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dc logo png black (1).png" id="185" name="Google Shape;18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51"/>
          <p:cNvCxnSpPr/>
          <p:nvPr/>
        </p:nvCxnSpPr>
        <p:spPr>
          <a:xfrm>
            <a:off x="1468815" y="1583837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2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Feedback and Reflection</a:t>
            </a:r>
            <a:endParaRPr b="1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2"/>
          <p:cNvSpPr txBox="1"/>
          <p:nvPr>
            <p:ph idx="1" type="body"/>
          </p:nvPr>
        </p:nvSpPr>
        <p:spPr>
          <a:xfrm>
            <a:off x="1371600" y="1907657"/>
            <a:ext cx="9525000" cy="3963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Seek constructive feedback from mentors and peers.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Reflect on lessons learned from successes and failures.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Adjust personal development strategies accordingly.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Document progress to maintain accountability.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2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194" name="Google Shape;19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52"/>
          <p:cNvCxnSpPr/>
          <p:nvPr/>
        </p:nvCxnSpPr>
        <p:spPr>
          <a:xfrm>
            <a:off x="1527733" y="1475930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3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Assessment Techniques</a:t>
            </a:r>
            <a:endParaRPr b="1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3"/>
          <p:cNvSpPr txBox="1"/>
          <p:nvPr>
            <p:ph idx="1" type="body"/>
          </p:nvPr>
        </p:nvSpPr>
        <p:spPr>
          <a:xfrm>
            <a:off x="1381748" y="1919045"/>
            <a:ext cx="9525000" cy="392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3200"/>
              <a:t>Self-rating scales and questionnaires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3200"/>
              <a:t>Peer evaluation and 360-degree feedback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3200"/>
              <a:t>Performance reviews and reflections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3200"/>
              <a:t>Tracking KPIs or personal milestones</a:t>
            </a:r>
            <a:endParaRPr/>
          </a:p>
          <a:p>
            <a:pPr indent="0" lvl="1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2" name="Google Shape;202;p53"/>
          <p:cNvSpPr txBox="1"/>
          <p:nvPr>
            <p:ph idx="12" type="sldNum"/>
          </p:nvPr>
        </p:nvSpPr>
        <p:spPr>
          <a:xfrm>
            <a:off x="11155958" y="5843681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3D Arrow of Growth made of grass. Success Concept. Horizontal composition with copy space." id="203" name="Google Shape;203;p53"/>
          <p:cNvPicPr preferRelativeResize="0"/>
          <p:nvPr/>
        </p:nvPicPr>
        <p:blipFill rotWithShape="1">
          <a:blip r:embed="rId3">
            <a:alphaModFix/>
          </a:blip>
          <a:srcRect b="1" l="11399" r="9978" t="0"/>
          <a:stretch/>
        </p:blipFill>
        <p:spPr>
          <a:xfrm>
            <a:off x="7655572" y="4799054"/>
            <a:ext cx="3026214" cy="1659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dc logo png black (1).png" id="204" name="Google Shape;20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53"/>
          <p:cNvCxnSpPr/>
          <p:nvPr/>
        </p:nvCxnSpPr>
        <p:spPr>
          <a:xfrm>
            <a:off x="1381748" y="1516003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4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Role Play / Activity</a:t>
            </a:r>
            <a:endParaRPr b="1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4"/>
          <p:cNvSpPr txBox="1"/>
          <p:nvPr>
            <p:ph idx="1" type="body"/>
          </p:nvPr>
        </p:nvSpPr>
        <p:spPr>
          <a:xfrm>
            <a:off x="1477478" y="1770062"/>
            <a:ext cx="9525000" cy="406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Activity: “Identify your top 3 strengths and areas to improve.”</a:t>
            </a:r>
            <a:br>
              <a:rPr lang="en-US" sz="2800"/>
            </a:br>
            <a:r>
              <a:rPr lang="en-US" sz="2800"/>
              <a:t>Group Discussion: “How feedback helped you grow professionally.”</a:t>
            </a:r>
            <a:br>
              <a:rPr lang="en-US" sz="2800"/>
            </a:br>
            <a:r>
              <a:rPr lang="en-US" sz="2800"/>
              <a:t>Exercise: Draft your Personal Development Plan for the next 6 months.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4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13" name="Google Shape;21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4" name="Google Shape;214;p54"/>
          <p:cNvCxnSpPr/>
          <p:nvPr/>
        </p:nvCxnSpPr>
        <p:spPr>
          <a:xfrm>
            <a:off x="1477478" y="1601579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5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Engagement Strategies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5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Icebreaker: Self-reflection questionnaire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Group sharing: Lessons learned from past experiences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Peer mentoring discussion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Video analysis of professional growth examples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21" name="Google Shape;221;p55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Young woman running on green grass with sky in the background." id="222" name="Google Shape;222;p55"/>
          <p:cNvPicPr preferRelativeResize="0"/>
          <p:nvPr/>
        </p:nvPicPr>
        <p:blipFill rotWithShape="1">
          <a:blip r:embed="rId3">
            <a:alphaModFix/>
          </a:blip>
          <a:srcRect b="2" l="0" r="2" t="35885"/>
          <a:stretch/>
        </p:blipFill>
        <p:spPr>
          <a:xfrm>
            <a:off x="7951270" y="4263992"/>
            <a:ext cx="2945330" cy="1992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dc logo png black (1).png" id="223" name="Google Shape;22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55"/>
          <p:cNvCxnSpPr/>
          <p:nvPr/>
        </p:nvCxnSpPr>
        <p:spPr>
          <a:xfrm>
            <a:off x="1381748" y="159123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6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Reflection Question</a:t>
            </a:r>
            <a:endParaRPr b="1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6"/>
          <p:cNvSpPr txBox="1"/>
          <p:nvPr>
            <p:ph idx="1" type="body"/>
          </p:nvPr>
        </p:nvSpPr>
        <p:spPr>
          <a:xfrm>
            <a:off x="1381748" y="1923714"/>
            <a:ext cx="9525000" cy="4059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“Which personal or professional habit do you need to change to grow effectively?”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6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32" name="Google Shape;23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p56"/>
          <p:cNvCxnSpPr/>
          <p:nvPr/>
        </p:nvCxnSpPr>
        <p:spPr>
          <a:xfrm>
            <a:off x="1468815" y="1491739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7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1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7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 sz="2800"/>
              <a:t>Stephen Covey – </a:t>
            </a:r>
            <a:r>
              <a:rPr i="1" lang="en-US" sz="2800"/>
              <a:t>The 7 Habits of Highly Effective People</a:t>
            </a:r>
            <a:endParaRPr sz="2800"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 sz="2800"/>
              <a:t>Dale Carnegie – </a:t>
            </a:r>
            <a:r>
              <a:rPr i="1" lang="en-US" sz="2800"/>
              <a:t>How to Develop Self-Confidence and Influence People</a:t>
            </a:r>
            <a:endParaRPr sz="2800"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 sz="2800"/>
              <a:t>MindTools.com – </a:t>
            </a:r>
            <a:r>
              <a:rPr i="1" lang="en-US" sz="2800"/>
              <a:t>Personal Development &amp; Self-Assessment Resources</a:t>
            </a:r>
            <a:endParaRPr sz="2800"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 sz="2800"/>
              <a:t>Harvard Business Review – </a:t>
            </a:r>
            <a:r>
              <a:rPr i="1" lang="en-US" sz="2800"/>
              <a:t>Self-Assessment and Growth Articles</a:t>
            </a:r>
            <a:endParaRPr sz="2800"/>
          </a:p>
        </p:txBody>
      </p:sp>
      <p:sp>
        <p:nvSpPr>
          <p:cNvPr id="240" name="Google Shape;240;p57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lipboard and check mark isolated on white background" id="241" name="Google Shape;241;p57"/>
          <p:cNvPicPr preferRelativeResize="0"/>
          <p:nvPr/>
        </p:nvPicPr>
        <p:blipFill rotWithShape="1">
          <a:blip r:embed="rId3">
            <a:alphaModFix/>
          </a:blip>
          <a:srcRect b="2" l="0" r="3" t="18596"/>
          <a:stretch/>
        </p:blipFill>
        <p:spPr>
          <a:xfrm>
            <a:off x="9352549" y="4944530"/>
            <a:ext cx="2839450" cy="2297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dc logo png black (1).png" id="242" name="Google Shape;24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57"/>
          <p:cNvCxnSpPr/>
          <p:nvPr/>
        </p:nvCxnSpPr>
        <p:spPr>
          <a:xfrm>
            <a:off x="1389888" y="1582698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8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 b="1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8"/>
          <p:cNvSpPr txBox="1"/>
          <p:nvPr>
            <p:ph idx="1" type="body"/>
          </p:nvPr>
        </p:nvSpPr>
        <p:spPr>
          <a:xfrm>
            <a:off x="1333500" y="1686892"/>
            <a:ext cx="9525000" cy="4155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https://youtu.be/MDxIHzI66Os?si=B_MC_VTumac4Fir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https://youtu.be/QOXLmF0wvOY?si=6HyLmaQD2PQsPbpu</a:t>
            </a:r>
            <a:endParaRPr sz="2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https://youtu.be/2UAYoj4pelk?si=bHqI4u_Qk5DlZYeB</a:t>
            </a:r>
            <a:endParaRPr sz="2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solidFill>
                  <a:schemeClr val="dk1"/>
                </a:solidFill>
              </a:rPr>
              <a:t> </a:t>
            </a:r>
            <a:r>
              <a:rPr lang="en-US" sz="28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https://youtu.be/uvtXuxl7KXI?si=qkuMD0Bk60aC9Z4r</a:t>
            </a:r>
            <a:endParaRPr sz="2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solidFill>
                  <a:schemeClr val="dk1"/>
                </a:solidFill>
              </a:rPr>
              <a:t>https://youtu.be/8I99KX-Vlf4?si=iRMpVGua6v8Oulh4</a:t>
            </a:r>
            <a:endParaRPr/>
          </a:p>
        </p:txBody>
      </p:sp>
      <p:sp>
        <p:nvSpPr>
          <p:cNvPr id="250" name="Google Shape;250;p58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51" name="Google Shape;251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58"/>
          <p:cNvCxnSpPr/>
          <p:nvPr/>
        </p:nvCxnSpPr>
        <p:spPr>
          <a:xfrm>
            <a:off x="1497691" y="1516003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lang="en-US"/>
              <a:t>Learning Outcomes</a:t>
            </a:r>
            <a:endParaRPr/>
          </a:p>
        </p:txBody>
      </p:sp>
      <p:sp>
        <p:nvSpPr>
          <p:cNvPr id="258" name="Google Shape;258;p45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After completing the session, students will:</a:t>
            </a:r>
            <a:endParaRPr sz="2800"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 Recognize their personal and professional skills.</a:t>
            </a:r>
            <a:endParaRPr sz="2800"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Demonstrate self-reflection and goal setting.</a:t>
            </a:r>
            <a:endParaRPr sz="2800"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 Apply tools and methods for continuous self-improvement.</a:t>
            </a:r>
            <a:endParaRPr sz="2800"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Build confidence and adaptability in various environments.</a:t>
            </a:r>
            <a:endParaRPr/>
          </a:p>
        </p:txBody>
      </p:sp>
      <p:sp>
        <p:nvSpPr>
          <p:cNvPr id="259" name="Google Shape;259;p45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Green dialogue boxes" id="260" name="Google Shape;260;p45"/>
          <p:cNvSpPr/>
          <p:nvPr/>
        </p:nvSpPr>
        <p:spPr>
          <a:xfrm>
            <a:off x="10533898" y="2993740"/>
            <a:ext cx="1487400" cy="148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dc logo png black (1).png" id="261" name="Google Shape;26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45"/>
          <p:cNvCxnSpPr/>
          <p:nvPr/>
        </p:nvCxnSpPr>
        <p:spPr>
          <a:xfrm>
            <a:off x="1497691" y="1477075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9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9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Self-assessment is a continuous journey for growth.</a:t>
            </a:r>
            <a:endParaRPr sz="2800"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Reflection and feedback are key to improvement.</a:t>
            </a:r>
            <a:endParaRPr sz="2800"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A structured development plan ensures measurable progress and career success.</a:t>
            </a:r>
            <a:endParaRPr/>
          </a:p>
        </p:txBody>
      </p:sp>
      <p:sp>
        <p:nvSpPr>
          <p:cNvPr id="269" name="Google Shape;269;p59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70" name="Google Shape;27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p59"/>
          <p:cNvCxnSpPr/>
          <p:nvPr/>
        </p:nvCxnSpPr>
        <p:spPr>
          <a:xfrm>
            <a:off x="1381748" y="1564587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8600" lvl="0" marL="22860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  <p:pic>
        <p:nvPicPr>
          <p:cNvPr descr="cdc logo png black (1).png" id="278" name="Google Shape;2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26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2024-01-11T09:03:24Z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