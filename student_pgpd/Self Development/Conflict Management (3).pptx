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Abril Fatfac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m6A1WNlGgW9UbMCQJsCO2gusg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AA7FB3-CD32-440D-B480-0C7D737B2D35}">
  <a:tblStyle styleId="{3EAA7FB3-CD32-440D-B480-0C7D737B2D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brilFatface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207d3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207d3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18207d31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2ab2043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12ab2043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12ab2043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12ab2043e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12ab2043e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12ab2043e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2ab2043e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12ab2043e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12ab2043e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2ab2043e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12ab2043e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12ab2043e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12ab2043e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12ab2043e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12ab2043e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2ab2043e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12ab2043e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12ab2043e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2ab2043e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12ab2043e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12ab2043e_1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12ab2043e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12ab2043e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a12ab2043e_1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12ab2043e_1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12ab2043e_1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a12ab2043e_1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88315d2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88315d2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88315d2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0"/>
            <a:ext cx="9464100" cy="5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 Deve</a:t>
            </a: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lopment &amp; </a:t>
            </a: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Conflict Styles and Which One to Use</a:t>
            </a:r>
            <a:endParaRPr sz="3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Distributive, Integrative, and Mixed Motive Strategies</a:t>
            </a:r>
            <a:endParaRPr sz="3200"/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112" name="Google Shape;112;p4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Define conflict and its nature.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Describe five conflict management styles.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Explain Distributive, Integrative, and Mixed Motive strategies.</a:t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Apply suitable conflict styles based on scenarios.</a:t>
            </a:r>
            <a:endParaRPr/>
          </a:p>
        </p:txBody>
      </p:sp>
      <p:pic>
        <p:nvPicPr>
          <p:cNvPr descr="cdc logo png black (1).png" id="113" name="Google Shape;1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3"/>
          <p:cNvCxnSpPr/>
          <p:nvPr/>
        </p:nvCxnSpPr>
        <p:spPr>
          <a:xfrm>
            <a:off x="1045538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8207d31e_0_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18207d31e_0_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Conflict Style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Choosing Right Strategy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 Conflict Management Quiz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18207d31e_0_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3" name="Google Shape;123;g3a18207d31e_0_0"/>
          <p:cNvCxnSpPr/>
          <p:nvPr/>
        </p:nvCxnSpPr>
        <p:spPr>
          <a:xfrm>
            <a:off x="1075938" y="1340339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24" name="Google Shape;124;g3a18207d31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Meaning of Conflict</a:t>
            </a:r>
            <a:endParaRPr/>
          </a:p>
        </p:txBody>
      </p:sp>
      <p:sp>
        <p:nvSpPr>
          <p:cNvPr id="130" name="Google Shape;130;p4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Conflict is a disagreement due to differences in values, needs, or interests.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It is natural and inevitable, but management determines the outcome.</a:t>
            </a:r>
            <a:endParaRPr/>
          </a:p>
        </p:txBody>
      </p:sp>
      <p:pic>
        <p:nvPicPr>
          <p:cNvPr descr="cdc logo png black (1).png" id="131" name="Google Shape;1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45"/>
          <p:cNvCxnSpPr/>
          <p:nvPr/>
        </p:nvCxnSpPr>
        <p:spPr>
          <a:xfrm>
            <a:off x="1000934" y="161001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Types of Conflict Styles</a:t>
            </a:r>
            <a:endParaRPr/>
          </a:p>
        </p:txBody>
      </p:sp>
      <p:sp>
        <p:nvSpPr>
          <p:cNvPr id="138" name="Google Shape;138;p4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Avoiding – Ignoring conflict.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Accommodating – Giving in to maintain peace.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Competing – Assertive, win–lose approach.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Compromising – Each gives up something.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Collaborating – Win–win through communication.</a:t>
            </a:r>
            <a:endParaRPr/>
          </a:p>
        </p:txBody>
      </p:sp>
      <p:pic>
        <p:nvPicPr>
          <p:cNvPr descr="cdc logo png black (1).png" id="139" name="Google Shape;1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46"/>
          <p:cNvCxnSpPr/>
          <p:nvPr/>
        </p:nvCxnSpPr>
        <p:spPr>
          <a:xfrm>
            <a:off x="1034387" y="163231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Which Conflict Style to Use?</a:t>
            </a:r>
            <a:endParaRPr/>
          </a:p>
        </p:txBody>
      </p:sp>
      <p:sp>
        <p:nvSpPr>
          <p:cNvPr id="146" name="Google Shape;146;p4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Avoiding – For minor issues.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Accommodating – To maintain harmony.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Competing – For urgent, decisive matters.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Compromising – For quick, fair settlements.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Collaborating – For trust-based, long-term solutions.</a:t>
            </a:r>
            <a:endParaRPr/>
          </a:p>
        </p:txBody>
      </p:sp>
      <p:pic>
        <p:nvPicPr>
          <p:cNvPr descr="cdc logo png black (1).png" id="147" name="Google Shape;1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47"/>
          <p:cNvCxnSpPr/>
          <p:nvPr/>
        </p:nvCxnSpPr>
        <p:spPr>
          <a:xfrm>
            <a:off x="914400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Distributive Strategy</a:t>
            </a:r>
            <a:endParaRPr/>
          </a:p>
        </p:txBody>
      </p:sp>
      <p:sp>
        <p:nvSpPr>
          <p:cNvPr id="154" name="Google Shape;154;p4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Known as Win–Lose negotiation.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Focuses on dividing limited resources.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Suitable for short-term, competitive situations.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Salary negotiation.</a:t>
            </a:r>
            <a:endParaRPr/>
          </a:p>
        </p:txBody>
      </p:sp>
      <p:pic>
        <p:nvPicPr>
          <p:cNvPr descr="cdc logo png black (1).png" id="155" name="Google Shape;1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48"/>
          <p:cNvCxnSpPr/>
          <p:nvPr/>
        </p:nvCxnSpPr>
        <p:spPr>
          <a:xfrm>
            <a:off x="1023235" y="157655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Integrative Strategy</a:t>
            </a:r>
            <a:endParaRPr/>
          </a:p>
        </p:txBody>
      </p:sp>
      <p:sp>
        <p:nvSpPr>
          <p:cNvPr id="162" name="Google Shape;162;p49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Known as Win–Win negotiation.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Focuses on mutual interests and creative solutions.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Encourages collaboration and trust.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Team project improvement discussion.</a:t>
            </a:r>
            <a:endParaRPr/>
          </a:p>
        </p:txBody>
      </p:sp>
      <p:pic>
        <p:nvPicPr>
          <p:cNvPr descr="cdc logo png black (1).png" id="163" name="Google Shape;1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49"/>
          <p:cNvCxnSpPr/>
          <p:nvPr/>
        </p:nvCxnSpPr>
        <p:spPr>
          <a:xfrm>
            <a:off x="914400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Mixed Motive Strategy</a:t>
            </a:r>
            <a:endParaRPr/>
          </a:p>
        </p:txBody>
      </p:sp>
      <p:sp>
        <p:nvSpPr>
          <p:cNvPr id="170" name="Google Shape;170;p5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Blend of competition and cooperation.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Recognizes both shared and conflicting interests.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Common in business partnerships.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Vendor and company contract negotiation.</a:t>
            </a:r>
            <a:endParaRPr/>
          </a:p>
        </p:txBody>
      </p:sp>
      <p:pic>
        <p:nvPicPr>
          <p:cNvPr descr="cdc logo png black (1).png" id="171" name="Google Shape;1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50"/>
          <p:cNvCxnSpPr/>
          <p:nvPr/>
        </p:nvCxnSpPr>
        <p:spPr>
          <a:xfrm>
            <a:off x="914400" y="157655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1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Choosing the Right Strategy</a:t>
            </a:r>
            <a:endParaRPr/>
          </a:p>
        </p:txBody>
      </p:sp>
      <p:sp>
        <p:nvSpPr>
          <p:cNvPr id="178" name="Google Shape;178;p51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Situation | Best Strategy | Outcome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Limited resources, short-term | Distributive | Win–Lose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Long-term relationship | Integrative | Win–Win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Balanced goals | Mixed Motive | Compromise–Cooperation</a:t>
            </a:r>
            <a:endParaRPr/>
          </a:p>
        </p:txBody>
      </p:sp>
      <p:pic>
        <p:nvPicPr>
          <p:cNvPr descr="cdc logo png black (1).png" id="179" name="Google Shape;1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51"/>
          <p:cNvCxnSpPr/>
          <p:nvPr/>
        </p:nvCxnSpPr>
        <p:spPr>
          <a:xfrm>
            <a:off x="914400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2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Exercise – Conflict Management Quiz</a:t>
            </a:r>
            <a:endParaRPr/>
          </a:p>
        </p:txBody>
      </p:sp>
      <p:sp>
        <p:nvSpPr>
          <p:cNvPr id="186" name="Google Shape;186;p52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 prefer to avoid confrontation.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 seek middle ground.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 insist on my way.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 aim for both sides to win.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 prioritize peace.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Discuss your result with a peer.</a:t>
            </a:r>
            <a:endParaRPr/>
          </a:p>
        </p:txBody>
      </p:sp>
      <p:pic>
        <p:nvPicPr>
          <p:cNvPr descr="cdc logo png black (1).png" id="187" name="Google Shape;1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52"/>
          <p:cNvCxnSpPr/>
          <p:nvPr/>
        </p:nvCxnSpPr>
        <p:spPr>
          <a:xfrm>
            <a:off x="914400" y="1676920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sp>
        <p:nvSpPr>
          <p:cNvPr id="194" name="Google Shape;194;p5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Formative: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Group discussion on quiz results.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Summative: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Case study: Choose best conflict strategy for a scenario.</a:t>
            </a:r>
            <a:endParaRPr/>
          </a:p>
        </p:txBody>
      </p:sp>
      <p:pic>
        <p:nvPicPr>
          <p:cNvPr descr="cdc logo png black (1).png" id="195" name="Google Shape;1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53"/>
          <p:cNvCxnSpPr/>
          <p:nvPr/>
        </p:nvCxnSpPr>
        <p:spPr>
          <a:xfrm>
            <a:off x="914400" y="164346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/>
          </a:p>
        </p:txBody>
      </p:sp>
      <p:sp>
        <p:nvSpPr>
          <p:cNvPr id="202" name="Google Shape;202;p5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Role-play: act out conflict scenes.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Group Debate: use different conflict styles.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Poll: most effective workplace strategy.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Video Reflection: analyze negotiation clips.</a:t>
            </a:r>
            <a:endParaRPr/>
          </a:p>
        </p:txBody>
      </p:sp>
      <p:pic>
        <p:nvPicPr>
          <p:cNvPr descr="cdc logo png black (1).png" id="203" name="Google Shape;2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54"/>
          <p:cNvCxnSpPr/>
          <p:nvPr/>
        </p:nvCxnSpPr>
        <p:spPr>
          <a:xfrm>
            <a:off x="1023236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12ab2043e_1_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highlight>
                  <a:schemeClr val="lt2"/>
                </a:highlight>
                <a:latin typeface="Calibri"/>
                <a:ea typeface="Calibri"/>
                <a:cs typeface="Calibri"/>
                <a:sym typeface="Calibri"/>
              </a:rPr>
              <a:t>Activity: Role-Play – Acting Out Conflict Scenes</a:t>
            </a:r>
            <a:endParaRPr sz="4800">
              <a:solidFill>
                <a:schemeClr val="accent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a12ab2043e_1_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help students to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conflict situations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communication styles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 constructive conflict resolution strategies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professional or personal setting.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2" name="Google Shape;212;g3a12ab2043e_1_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13" name="Google Shape;213;g3a12ab2043e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g3a12ab2043e_1_0"/>
          <p:cNvCxnSpPr/>
          <p:nvPr/>
        </p:nvCxnSpPr>
        <p:spPr>
          <a:xfrm>
            <a:off x="993661" y="1170237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g3a12ab2043e_1_0"/>
          <p:cNvCxnSpPr>
            <a:endCxn id="211" idx="0"/>
          </p:cNvCxnSpPr>
          <p:nvPr/>
        </p:nvCxnSpPr>
        <p:spPr>
          <a:xfrm>
            <a:off x="1076100" y="1919673"/>
            <a:ext cx="47958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2ab2043e_1_8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Materials Required: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a12ab2043e_1_8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cards (printed or digital).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cards (e.g., “Team Leader,” “Employee,” “Client,” etc.).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 checklist or evaluation form.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Whiteboard or chart paper for group reflection.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a12ab2043e_1_8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24" name="Google Shape;224;g3a12ab2043e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g3a12ab2043e_1_8"/>
          <p:cNvCxnSpPr/>
          <p:nvPr/>
        </p:nvCxnSpPr>
        <p:spPr>
          <a:xfrm>
            <a:off x="1008461" y="1591062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12ab2043e_1_1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highlight>
                  <a:schemeClr val="lt2"/>
                </a:highlight>
                <a:latin typeface="Calibri"/>
                <a:ea typeface="Calibri"/>
                <a:cs typeface="Calibri"/>
                <a:sym typeface="Calibri"/>
              </a:rPr>
              <a:t>Procedure:</a:t>
            </a:r>
            <a:endParaRPr sz="4800">
              <a:solidFill>
                <a:schemeClr val="accent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a12ab2043e_1_1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(5–10 minutes):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teacher introduces the concept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management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explains how role-play helps practice real-life scenarios.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basic approaches such as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Avoiding, Accommodating, Competing, Compromising,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12ab2043e_1_1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34" name="Google Shape;234;g3a12ab2043e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g3a12ab2043e_1_16"/>
          <p:cNvCxnSpPr/>
          <p:nvPr/>
        </p:nvCxnSpPr>
        <p:spPr>
          <a:xfrm>
            <a:off x="905261" y="1600212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12ab2043e_1_24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12ab2043e_1_24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Group Division (5 minutes):</a:t>
            </a:r>
            <a:br>
              <a:rPr b="1" lang="en-US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Divide students into small groups of 3–5.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Assign or allow each group to select a </a:t>
            </a:r>
            <a:r>
              <a:rPr b="1" lang="en-US" sz="2800">
                <a:solidFill>
                  <a:schemeClr val="dk1"/>
                </a:solidFill>
              </a:rPr>
              <a:t>conflict scenario</a:t>
            </a:r>
            <a:r>
              <a:rPr lang="en-US" sz="2800">
                <a:solidFill>
                  <a:schemeClr val="dk1"/>
                </a:solidFill>
              </a:rPr>
              <a:t> and </a:t>
            </a:r>
            <a:r>
              <a:rPr b="1" lang="en-US" sz="2800">
                <a:solidFill>
                  <a:schemeClr val="dk1"/>
                </a:solidFill>
              </a:rPr>
              <a:t>roles</a:t>
            </a:r>
            <a:r>
              <a:rPr lang="en-US" sz="2800">
                <a:solidFill>
                  <a:schemeClr val="dk1"/>
                </a:solidFill>
              </a:rPr>
              <a:t>.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43" name="Google Shape;243;g3a12ab2043e_1_24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44" name="Google Shape;244;g3a12ab2043e_1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2ab2043e_1_32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Scenario Assignment (5 minutes):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251" name="Google Shape;251;g3a12ab2043e_1_32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br>
              <a:rPr b="1" lang="en-US" sz="2800">
                <a:solidFill>
                  <a:schemeClr val="dk1"/>
                </a:solidFill>
              </a:rPr>
            </a:b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Examples of scenarios: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Workplace: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Two team members disagree on how to complete a project.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Classroom: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group member isn’t contributing equally to a group assignment.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Interaction: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customer complains about poor service, and the employee must handle the situation.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Conflict: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Misunderstanding between friends due to poor communication.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a12ab2043e_1_32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53" name="Google Shape;253;g3a12ab2043e_1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g3a12ab2043e_1_32"/>
          <p:cNvCxnSpPr/>
          <p:nvPr/>
        </p:nvCxnSpPr>
        <p:spPr>
          <a:xfrm>
            <a:off x="914411" y="1246037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5" name="Google Shape;255;g3a12ab2043e_1_32"/>
          <p:cNvCxnSpPr/>
          <p:nvPr/>
        </p:nvCxnSpPr>
        <p:spPr>
          <a:xfrm flipH="1" rot="10800000">
            <a:off x="983761" y="1995237"/>
            <a:ext cx="2903400" cy="234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12ab2043e_1_39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12ab2043e_1_39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Preparation Time (10 minutes):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discuss and plan their dialogue, approach, and body language.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 them to include both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reactions to highlight conflict escalation and resolution.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12ab2043e_1_39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64" name="Google Shape;264;g3a12ab2043e_1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12ab2043e_1_47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12ab2043e_1_47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Role-Play Performance (15–20 minutes):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group performs the scene in front of the class.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Observers note the strategies used and evaluate the communication methods.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a12ab2043e_1_47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73" name="Google Shape;273;g3a12ab2043e_1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12ab2043e_1_55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12ab2043e_1_55"/>
          <p:cNvSpPr txBox="1"/>
          <p:nvPr>
            <p:ph idx="1" type="body"/>
          </p:nvPr>
        </p:nvSpPr>
        <p:spPr>
          <a:xfrm>
            <a:off x="914400" y="1919675"/>
            <a:ext cx="9915000" cy="470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Reflection &amp; Discussion (10–15 minutes):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each role-play, conduct a brief discussion: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caused the conflict?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communication styles were used?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was the conflict resolved?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could be improved?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 constructive feedback from peers.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12ab2043e_1_55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82" name="Google Shape;282;g3a12ab2043e_1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12ab2043e_1_83"/>
          <p:cNvSpPr txBox="1"/>
          <p:nvPr>
            <p:ph idx="12" type="sldNum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g3a12ab2043e_1_83"/>
          <p:cNvSpPr txBox="1"/>
          <p:nvPr>
            <p:ph idx="10" type="dt"/>
          </p:nvPr>
        </p:nvSpPr>
        <p:spPr>
          <a:xfrm>
            <a:off x="9017000" y="6433202"/>
            <a:ext cx="2374200" cy="36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90" name="Google Shape;290;g3a12ab2043e_1_83"/>
          <p:cNvGraphicFramePr/>
          <p:nvPr/>
        </p:nvGraphicFramePr>
        <p:xfrm>
          <a:off x="684500" y="49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{3EAA7FB3-CD32-440D-B480-0C7D737B2D35}</a:tableStyleId>
              </a:tblPr>
              <a:tblGrid>
                <a:gridCol w="4002800"/>
                <a:gridCol w="6590300"/>
              </a:tblGrid>
              <a:tr h="668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Criteria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Understanding of Conflict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Ability to identify causes and types of conflict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 Skills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Clarity, tone, listening, and body language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Problem-Solving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of strategies to reach resolution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Teamwork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Cooperation among group members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0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Creativity &amp; Realism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Realistic portrayal of the scenario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cdc logo png black (1).png" id="291" name="Google Shape;291;g3a12ab2043e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97" name="Google Shape;297;p5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Thomas, K.W., &amp; Kilmann, R.H. (1974). Thomas-Kilmann Conflict Mode Instrument.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Rahim, M.A. (2011). Managing Conflict in Organizations.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Harvard Business Review – Negotiation Strategies.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Canva Education Media Library.</a:t>
            </a:r>
            <a:endParaRPr/>
          </a:p>
        </p:txBody>
      </p:sp>
      <p:pic>
        <p:nvPicPr>
          <p:cNvPr descr="cdc logo png black (1).png" id="298" name="Google Shape;2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55"/>
          <p:cNvCxnSpPr/>
          <p:nvPr/>
        </p:nvCxnSpPr>
        <p:spPr>
          <a:xfrm>
            <a:off x="914400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305" name="Google Shape;305;p5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Conflict Management Styles – https://www.youtube.com/watch?v=KY5TWVz5ZDU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Distributive vs. Integrative Negotiation – https://www.youtube.com/watch?v=GfsRWQGvX3s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Mixed Motive Negotiations – https://www.youtube.com/watch?v=UdG6E5HkZ5A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dc logo png black (1).png" id="306" name="Google Shape;30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56"/>
          <p:cNvCxnSpPr/>
          <p:nvPr/>
        </p:nvCxnSpPr>
        <p:spPr>
          <a:xfrm>
            <a:off x="1034387" y="164346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88315d227_0_0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988315d227_0_0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Resolving Conflicts at Work (TEDx) – https://www.youtube.com/watch?v=kyZ9xK1j-HY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Conflict Management Skills – https://www.youtube.com/watch?v=Ovx5Lh8LJ9s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988315d227_0_0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6" name="Google Shape;316;g3988315d227_0_0"/>
          <p:cNvCxnSpPr/>
          <p:nvPr/>
        </p:nvCxnSpPr>
        <p:spPr>
          <a:xfrm>
            <a:off x="1075962" y="1377417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22" name="Google Shape;322;p5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Conflict is unavoidable but manageable.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Understanding strategies improves communication.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Using the right style builds trust and success.</a:t>
            </a:r>
            <a:endParaRPr/>
          </a:p>
        </p:txBody>
      </p:sp>
      <p:pic>
        <p:nvPicPr>
          <p:cNvPr descr="cdc logo png black (1).png" id="323" name="Google Shape;32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57"/>
          <p:cNvCxnSpPr/>
          <p:nvPr/>
        </p:nvCxnSpPr>
        <p:spPr>
          <a:xfrm>
            <a:off x="1056689" y="159886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/>
          </a:p>
        </p:txBody>
      </p:sp>
      <p:sp>
        <p:nvSpPr>
          <p:cNvPr id="330" name="Google Shape;330;p4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session, learners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Identify personal conflict style.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Evaluate situations to select best strategy.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Demonstrate negotiation and compromise.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Apply integrative approaches for win–win outcomes.</a:t>
            </a:r>
            <a:endParaRPr/>
          </a:p>
        </p:txBody>
      </p:sp>
      <p:pic>
        <p:nvPicPr>
          <p:cNvPr descr="cdc logo png black (1).png" id="331" name="Google Shape;33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44"/>
          <p:cNvCxnSpPr/>
          <p:nvPr/>
        </p:nvCxnSpPr>
        <p:spPr>
          <a:xfrm>
            <a:off x="1023236" y="165461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339" name="Google Shape;3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