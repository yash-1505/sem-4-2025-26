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Abril Fatface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xVxLKw0QQIOYc+HuX57km966r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brilFatface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c5a19ade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8c5a19ade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8c5a19ade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4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4"/>
          <p:cNvSpPr/>
          <p:nvPr/>
        </p:nvSpPr>
        <p:spPr>
          <a:xfrm rot="10800000">
            <a:off x="0" y="-5"/>
            <a:ext cx="2286000" cy="2285973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4"/>
          <p:cNvSpPr/>
          <p:nvPr/>
        </p:nvSpPr>
        <p:spPr>
          <a:xfrm rot="5400000">
            <a:off x="-433923" y="554625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4"/>
          <p:cNvSpPr txBox="1"/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5"/>
          <p:cNvSpPr/>
          <p:nvPr/>
        </p:nvSpPr>
        <p:spPr>
          <a:xfrm rot="10800000">
            <a:off x="1" y="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5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5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9323285" y="6434524"/>
            <a:ext cx="2067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173736" y="6437376"/>
            <a:ext cx="3775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subTitle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27"/>
          <p:cNvSpPr txBox="1"/>
          <p:nvPr>
            <p:ph idx="10" type="dt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2" type="sldNum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/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" type="body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" type="body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2" type="body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0"/>
          <p:cNvSpPr txBox="1"/>
          <p:nvPr>
            <p:ph idx="2" type="body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0"/>
          <p:cNvSpPr txBox="1"/>
          <p:nvPr>
            <p:ph idx="4" type="body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1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34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" type="body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5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6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456" y="85343"/>
            <a:ext cx="2761488" cy="134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0" y="1595061"/>
            <a:ext cx="11930700" cy="5262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 Speaking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Semester 4 – Professional Grooming and Personality Development 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(303193252) 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/>
          <p:nvPr/>
        </p:nvSpPr>
        <p:spPr>
          <a:xfrm>
            <a:off x="1510934" y="192024"/>
            <a:ext cx="56122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2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2"/>
          <p:cNvSpPr txBox="1"/>
          <p:nvPr/>
        </p:nvSpPr>
        <p:spPr>
          <a:xfrm>
            <a:off x="1536192" y="1480246"/>
            <a:ext cx="9317736" cy="353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this session, students will be able to: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Understand the purpose and process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Explore different speech patterns and delivery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the art of persuasion and effective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 confidence and stage presence during speeches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Improve clarity, tone, and body language while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/>
          <p:nvPr/>
        </p:nvSpPr>
        <p:spPr>
          <a:xfrm>
            <a:off x="1510934" y="192024"/>
            <a:ext cx="7139906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Topics to be covered:</a:t>
            </a:r>
            <a:endParaRPr b="1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8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8"/>
          <p:cNvSpPr txBox="1"/>
          <p:nvPr/>
        </p:nvSpPr>
        <p:spPr>
          <a:xfrm>
            <a:off x="1536192" y="1480246"/>
            <a:ext cx="93177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Importance of Public Speaking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Understanding Speech Patterns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Elements of Public Speaking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Art of Persuasion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Structuring your Speeches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Tips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Tools &amp; Aids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Common Mistakes to Avoid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 Speech Topics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c5a19adee_0_0"/>
          <p:cNvSpPr txBox="1"/>
          <p:nvPr>
            <p:ph type="title"/>
          </p:nvPr>
        </p:nvSpPr>
        <p:spPr>
          <a:xfrm>
            <a:off x="1381748" y="246183"/>
            <a:ext cx="9525000" cy="19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400"/>
              <a:buFont typeface="Trebuchet MS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PUBLIC SPEAKING? </a:t>
            </a:r>
            <a:endParaRPr b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33" name="Google Shape;133;g38c5a19adee_0_0"/>
          <p:cNvSpPr txBox="1"/>
          <p:nvPr>
            <p:ph idx="1" type="body"/>
          </p:nvPr>
        </p:nvSpPr>
        <p:spPr>
          <a:xfrm>
            <a:off x="1371600" y="2274033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800"/>
              <a:buNone/>
            </a:pPr>
            <a:r>
              <a:rPr lang="en-US" sz="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8c5a19adee_0_0"/>
          <p:cNvSpPr txBox="1"/>
          <p:nvPr>
            <p:ph idx="12" type="sldNum"/>
          </p:nvPr>
        </p:nvSpPr>
        <p:spPr>
          <a:xfrm>
            <a:off x="10896600" y="5983104"/>
            <a:ext cx="12954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35" name="Google Shape;135;g38c5a19ade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g38c5a19adee_0_0"/>
          <p:cNvCxnSpPr/>
          <p:nvPr/>
        </p:nvCxnSpPr>
        <p:spPr>
          <a:xfrm>
            <a:off x="1523992" y="1262721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g38c5a19adee_0_0"/>
          <p:cNvSpPr/>
          <p:nvPr/>
        </p:nvSpPr>
        <p:spPr>
          <a:xfrm>
            <a:off x="1381748" y="2012787"/>
            <a:ext cx="9621748" cy="3539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the process of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delivering a speech or presentation to a live audience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 structured and deliberate manner.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aims to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inform, influence, entertain, or inspire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listeners.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classrooms to conferences, public speaking helps individuals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ideas, express opinions, and connect with others.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of Public Speaking: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7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skills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Boosts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Leadership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qualities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thinking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influence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career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growth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7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45" name="Google Shape;14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37"/>
          <p:cNvCxnSpPr/>
          <p:nvPr/>
        </p:nvCxnSpPr>
        <p:spPr>
          <a:xfrm>
            <a:off x="1491221" y="1232164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cdc logo png black (1).png" id="153" name="Google Shape;1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/>
          <p:nvPr/>
        </p:nvSpPr>
        <p:spPr>
          <a:xfrm>
            <a:off x="1510933" y="192024"/>
            <a:ext cx="8541371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Understanding Speech Patterns: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3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3"/>
          <p:cNvSpPr txBox="1"/>
          <p:nvPr/>
        </p:nvSpPr>
        <p:spPr>
          <a:xfrm>
            <a:off x="1632155" y="1484672"/>
            <a:ext cx="922177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1405719" y="1014984"/>
            <a:ext cx="10337644" cy="4185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public speaking, speech patterns play a crucial role in organizing ideas to deliver a message that is clear, logical, and engaging.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Chronological (Arranges points in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order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Problem-Solution (Presents a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followed by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solutions)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Cause-Effect (Explains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something happens and its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Topical (Divides the idea into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subtopics or categories)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 of Public Speaking: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8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Content: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What you say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69498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Delivery: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How you say it (voice, gestures, posture)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69498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Audience: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Understanding and connecting with listeners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69498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Visuals &amp; Aids: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Enhancing comprehension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r>
              <a:rPr b="1" lang="en-US" sz="2800"/>
              <a:t>“A well-structured speech is half delivered.”</a:t>
            </a:r>
            <a:endParaRPr b="1" sz="2800"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8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65" name="Google Shape;16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3327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38"/>
          <p:cNvCxnSpPr/>
          <p:nvPr/>
        </p:nvCxnSpPr>
        <p:spPr>
          <a:xfrm>
            <a:off x="1467612" y="113385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idx="1" type="body"/>
          </p:nvPr>
        </p:nvSpPr>
        <p:spPr>
          <a:xfrm>
            <a:off x="1371600" y="1150141"/>
            <a:ext cx="9525000" cy="4441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Ethos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(credibility) – Eg: As a teacher with 10 years of experience, I’ve seen how confidence transforms students.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Pathos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(emotion) – Eg: Imagine a world where every child has access to education.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Logos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(logic) – Eg: Studies show that students who read daily improve vocabulary by 30%.</a:t>
            </a:r>
            <a:endParaRPr/>
          </a:p>
        </p:txBody>
      </p:sp>
      <p:pic>
        <p:nvPicPr>
          <p:cNvPr descr="cdc logo png black (1).png" id="173" name="Google Shape;1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/>
          <p:nvPr/>
        </p:nvSpPr>
        <p:spPr>
          <a:xfrm>
            <a:off x="1510933" y="192024"/>
            <a:ext cx="68687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5"/>
          <p:cNvCxnSpPr/>
          <p:nvPr/>
        </p:nvCxnSpPr>
        <p:spPr>
          <a:xfrm>
            <a:off x="1663333" y="1005548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5"/>
          <p:cNvSpPr/>
          <p:nvPr/>
        </p:nvSpPr>
        <p:spPr>
          <a:xfrm>
            <a:off x="1663333" y="245661"/>
            <a:ext cx="8723840" cy="126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Art of Persuasion: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Turning words into influence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Structuring Your Speech: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0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Introduction: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Grab attention with an opening hook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State your purpose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Body: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Main argument use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ethos, pathos, logos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Conclusion: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Summarize and leave a lasting impression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3" name="Google Shape;183;p40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184" name="Google Shape;18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4826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40"/>
          <p:cNvCxnSpPr/>
          <p:nvPr/>
        </p:nvCxnSpPr>
        <p:spPr>
          <a:xfrm>
            <a:off x="1524161" y="121363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>
            <p:ph idx="1" type="body"/>
          </p:nvPr>
        </p:nvSpPr>
        <p:spPr>
          <a:xfrm>
            <a:off x="1371600" y="1433015"/>
            <a:ext cx="9525000" cy="4158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Know your audience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Structure your content well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storytelling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Use simple and clear language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Engage the audience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Use appropriate body language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Manage nerves</a:t>
            </a:r>
            <a:endParaRPr/>
          </a:p>
        </p:txBody>
      </p:sp>
      <p:pic>
        <p:nvPicPr>
          <p:cNvPr descr="cdc logo png black (1).png" id="192" name="Google Shape;1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/>
          <p:nvPr/>
        </p:nvSpPr>
        <p:spPr>
          <a:xfrm>
            <a:off x="1510933" y="192024"/>
            <a:ext cx="68687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6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6"/>
          <p:cNvSpPr/>
          <p:nvPr/>
        </p:nvSpPr>
        <p:spPr>
          <a:xfrm>
            <a:off x="1536192" y="192024"/>
            <a:ext cx="8902352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Tips to make Speeches Effective: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/>
          <p:nvPr>
            <p:ph type="title"/>
          </p:nvPr>
        </p:nvSpPr>
        <p:spPr>
          <a:xfrm>
            <a:off x="1381748" y="246183"/>
            <a:ext cx="8810216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ct val="83333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Tips to Overcome Fear &amp; Nervousness: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Prepare thoroughly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Practice and rehearse well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Focus on message, not yourself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deep breathing and positive visualization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03" name="Google Shape;2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3327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39"/>
          <p:cNvCxnSpPr/>
          <p:nvPr/>
        </p:nvCxnSpPr>
        <p:spPr>
          <a:xfrm>
            <a:off x="1381748" y="161727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1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Tips for Effective Body Language: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1"/>
          <p:cNvSpPr txBox="1"/>
          <p:nvPr>
            <p:ph idx="1" type="body"/>
          </p:nvPr>
        </p:nvSpPr>
        <p:spPr>
          <a:xfrm>
            <a:off x="1381748" y="1832811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Maintain eye contact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purposeful gestures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Stand confidently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Avoid distracting movements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1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12" name="Google Shape;21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41"/>
          <p:cNvCxnSpPr/>
          <p:nvPr/>
        </p:nvCxnSpPr>
        <p:spPr>
          <a:xfrm>
            <a:off x="1498092" y="148437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Tips for Vocal Techniques: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2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Vary pitch and tone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Control pace and volume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pauses effectively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Pronounce words clearly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2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21" name="Google Shape;2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42"/>
          <p:cNvCxnSpPr/>
          <p:nvPr/>
        </p:nvCxnSpPr>
        <p:spPr>
          <a:xfrm>
            <a:off x="1490472" y="112623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Tips for Engaging the Audience: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3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Ask questions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anecdotes and stories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Incorporate humor carefully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Observe audience reactions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3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30" name="Google Shape;23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" name="Google Shape;231;p43"/>
          <p:cNvCxnSpPr/>
          <p:nvPr/>
        </p:nvCxnSpPr>
        <p:spPr>
          <a:xfrm>
            <a:off x="1536192" y="1205943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Tips for Practice:</a:t>
            </a:r>
            <a:b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5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Record and review your speech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Practice in front of mirror and freinds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Join public speaking clubs like Toastmasters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Seek constructive feedback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5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39" name="Google Shape;23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45"/>
          <p:cNvCxnSpPr/>
          <p:nvPr/>
        </p:nvCxnSpPr>
        <p:spPr>
          <a:xfrm>
            <a:off x="1536192" y="1187655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6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&amp; Aids: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6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PowerPoint / Canva slides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Videos and visuals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Props or handouts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Microphones and teleprompters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6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8" name="Google Shape;248;p46"/>
          <p:cNvCxnSpPr/>
          <p:nvPr/>
        </p:nvCxnSpPr>
        <p:spPr>
          <a:xfrm>
            <a:off x="1467612" y="147675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Mistakes to Avoid: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Overloading information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Speaking too fast or too soft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Ignoring audience feedback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Reading speech word-for-word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56" name="Google Shape;25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44"/>
          <p:cNvCxnSpPr/>
          <p:nvPr/>
        </p:nvCxnSpPr>
        <p:spPr>
          <a:xfrm>
            <a:off x="1482852" y="1119075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Persuasive Speech Challenge! 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Instructions: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Groups create 2-minute speech to sell a product/idea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65" name="Google Shape;26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49"/>
          <p:cNvCxnSpPr/>
          <p:nvPr/>
        </p:nvCxnSpPr>
        <p:spPr>
          <a:xfrm>
            <a:off x="1527048" y="126609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1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</a:t>
            </a:r>
            <a:b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1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Impromptu Speaking Circle!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Instructions: Each student gets a random topic from the list of prepared topics and speaks for a minute.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1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4" name="Google Shape;274;p51"/>
          <p:cNvCxnSpPr/>
          <p:nvPr/>
        </p:nvCxnSpPr>
        <p:spPr>
          <a:xfrm>
            <a:off x="1527048" y="126609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75" name="Google Shape;27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0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Speech Topics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0"/>
          <p:cNvSpPr txBox="1"/>
          <p:nvPr>
            <p:ph idx="1" type="body"/>
          </p:nvPr>
        </p:nvSpPr>
        <p:spPr>
          <a:xfrm>
            <a:off x="1333500" y="1643097"/>
            <a:ext cx="9525000" cy="496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My Journey to Success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Reducing Plastic Waste in Cities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Benefits of Yoga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My Dream Job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Convincing People to Recycle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Why Reading Books Improves Life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Importance of Time Management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Social Media Impacts Students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History of the Internet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sp>
        <p:nvSpPr>
          <p:cNvPr id="282" name="Google Shape;282;p60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83" name="Google Shape;28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60"/>
          <p:cNvCxnSpPr/>
          <p:nvPr/>
        </p:nvCxnSpPr>
        <p:spPr>
          <a:xfrm>
            <a:off x="1437132" y="15300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1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Speech Topics</a:t>
            </a:r>
            <a:endParaRPr b="1" sz="4800">
              <a:solidFill>
                <a:schemeClr val="dk1"/>
              </a:solidFill>
            </a:endParaRPr>
          </a:p>
        </p:txBody>
      </p:sp>
      <p:sp>
        <p:nvSpPr>
          <p:cNvPr id="290" name="Google Shape;290;p61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Adopting a Pet Saves Lives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Farewell Speech for a Friend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Overcoming Failure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Climate Change Awareness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Bake a Cake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Promote a New School App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Convince Audience to Join a Gym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 World Without Internet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/>
          </a:p>
        </p:txBody>
      </p:sp>
      <p:sp>
        <p:nvSpPr>
          <p:cNvPr id="291" name="Google Shape;291;p61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92" name="Google Shape;29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61"/>
          <p:cNvCxnSpPr/>
          <p:nvPr/>
        </p:nvCxnSpPr>
        <p:spPr>
          <a:xfrm>
            <a:off x="1437132" y="15300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2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Speech Topics</a:t>
            </a:r>
            <a:endParaRPr b="1" sz="4800">
              <a:solidFill>
                <a:schemeClr val="dk1"/>
              </a:solidFill>
            </a:endParaRPr>
          </a:p>
        </p:txBody>
      </p:sp>
      <p:sp>
        <p:nvSpPr>
          <p:cNvPr id="299" name="Google Shape;299;p62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Most Inspiring Person in My Life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Benefits of Meditation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Importance of Financial Literacy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Stay Motivated in College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Role of Technology in Education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00" name="Google Shape;300;p62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301" name="Google Shape;30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p62"/>
          <p:cNvCxnSpPr/>
          <p:nvPr/>
        </p:nvCxnSpPr>
        <p:spPr>
          <a:xfrm>
            <a:off x="1437132" y="15300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Public speaking is key for professional growth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Enhances confidence, persuasion, and leadership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Continuous practice leads to mastery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310" name="Google Shape;31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59"/>
          <p:cNvCxnSpPr/>
          <p:nvPr/>
        </p:nvCxnSpPr>
        <p:spPr>
          <a:xfrm>
            <a:off x="1479662" y="126609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"/>
          <p:cNvSpPr txBox="1"/>
          <p:nvPr>
            <p:ph idx="1" type="body"/>
          </p:nvPr>
        </p:nvSpPr>
        <p:spPr>
          <a:xfrm>
            <a:off x="955342" y="1187356"/>
            <a:ext cx="9873917" cy="567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/>
              <a:t>Public Speaking Skills</a:t>
            </a:r>
            <a:r>
              <a:rPr lang="en-US"/>
              <a:t>: https://www.youtube.com/watch?v=1nYFpuc2Umk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/>
              <a:t>10 Tips for Confident Public Speaking</a:t>
            </a:r>
            <a:r>
              <a:rPr lang="en-US"/>
              <a:t>: https://www.youtube.com/watch?v=5TbXqZ_b1r0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/>
              <a:t>Public Speaking for Beginners</a:t>
            </a:r>
            <a:r>
              <a:rPr lang="en-US"/>
              <a:t>: https://www.youtube.com/watch?v=OvYwJrL4jKA</a:t>
            </a:r>
            <a:endParaRPr/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/>
              <a:t>How to Improve Public Speaking</a:t>
            </a:r>
            <a:r>
              <a:rPr lang="en-US"/>
              <a:t>: https://www.youtube.com/watch?v=HAnw168huqA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318" name="Google Shape;3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20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0" name="Google Shape;320;p20"/>
          <p:cNvSpPr/>
          <p:nvPr/>
        </p:nvSpPr>
        <p:spPr>
          <a:xfrm>
            <a:off x="1655064" y="246888"/>
            <a:ext cx="451713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7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7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Carnegie, D. *The Art of Public Speaking*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Toastmasters International Resources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TEDx Talks on Effective Communication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Raman &amp; Singh, *Business Communication*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Freepik / Pexels for images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7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328" name="Google Shape;32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57"/>
          <p:cNvCxnSpPr/>
          <p:nvPr/>
        </p:nvCxnSpPr>
        <p:spPr>
          <a:xfrm>
            <a:off x="1381748" y="126609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3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Outcomes</a:t>
            </a:r>
            <a:br>
              <a:rPr lang="en-US" sz="4800">
                <a:latin typeface="Calibri"/>
                <a:ea typeface="Calibri"/>
                <a:cs typeface="Calibri"/>
                <a:sym typeface="Calibri"/>
              </a:rPr>
            </a:b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3"/>
          <p:cNvSpPr txBox="1"/>
          <p:nvPr>
            <p:ph idx="1" type="body"/>
          </p:nvPr>
        </p:nvSpPr>
        <p:spPr>
          <a:xfrm>
            <a:off x="1371600" y="1832811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Demonstrate confidence in addressing an audience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Choose suitable speech patterns and delivery methods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Employ persuasive communication in professional settings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Construct and present impactful speeches for different purposes</a:t>
            </a:r>
            <a:endParaRPr/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Self-assess and refine presentation techniques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3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337" name="Google Shape;33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63"/>
          <p:cNvCxnSpPr/>
          <p:nvPr/>
        </p:nvCxnSpPr>
        <p:spPr>
          <a:xfrm>
            <a:off x="1381748" y="126609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2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b="1" lang="en-US" sz="50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 b="1" sz="5000"/>
          </a:p>
        </p:txBody>
      </p:sp>
      <p:pic>
        <p:nvPicPr>
          <p:cNvPr descr="cdc logo png black (1).png" id="345" name="Google Shape;3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6" name="Google Shape;346;p22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2024-01-11T09:03:24Z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