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Abril Fatface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0HX8kwfEPKkNlNBAHw7rjgIc8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brilFatface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35c790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35c790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1835c790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1835c7905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1835c7905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1835c7905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835c7905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835c7905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a1835c7905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1835c7905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a1835c7905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a1835c7905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835c7905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1835c7905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1835c7905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835c7905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1835c7905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1835c7905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1835c7905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1835c790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a1835c7905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youtube.com/watch?v=IRG-YubP1rw" TargetMode="External"/><Relationship Id="rId4" Type="http://schemas.openxmlformats.org/officeDocument/2006/relationships/hyperlink" Target="https://youtu.be/UcVNwvpQm8A?si=pgqPIVHYAEmaaGPp" TargetMode="External"/><Relationship Id="rId5" Type="http://schemas.openxmlformats.org/officeDocument/2006/relationships/hyperlink" Target="https://youtu.be/EoHlh9XGw3k?si=kO9A-amTgCfaV3Pi" TargetMode="External"/><Relationship Id="rId6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6001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Etiquette for Small Talk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Building Positive Connections Through Effective Communication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112" name="Google Shape;112;p4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Define small talk.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Identify do’s and don’ts.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Practice initiation and response.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Demonstrate cultural awareness.</a:t>
            </a:r>
            <a:endParaRPr/>
          </a:p>
        </p:txBody>
      </p:sp>
      <p:cxnSp>
        <p:nvCxnSpPr>
          <p:cNvPr id="113" name="Google Shape;113;p43"/>
          <p:cNvCxnSpPr/>
          <p:nvPr/>
        </p:nvCxnSpPr>
        <p:spPr>
          <a:xfrm>
            <a:off x="914400" y="159958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14" name="Google Shape;11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835c7905_0_2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5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b="1" sz="5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1835c7905_0_2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1.Introduction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2.Importance of small talk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Key Principle for small talk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4.Topic suitable for small talk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6.7.Activity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a1835c7905_0_2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3" name="Google Shape;123;g3a1835c7905_0_26"/>
          <p:cNvCxnSpPr/>
          <p:nvPr/>
        </p:nvCxnSpPr>
        <p:spPr>
          <a:xfrm>
            <a:off x="905250" y="1405597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24" name="Google Shape;124;g3a1835c790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 to Small Talk</a:t>
            </a:r>
            <a:endParaRPr/>
          </a:p>
        </p:txBody>
      </p:sp>
      <p:sp>
        <p:nvSpPr>
          <p:cNvPr id="130" name="Google Shape;130;p45"/>
          <p:cNvSpPr txBox="1"/>
          <p:nvPr>
            <p:ph idx="1" type="body"/>
          </p:nvPr>
        </p:nvSpPr>
        <p:spPr>
          <a:xfrm>
            <a:off x="905263" y="1727523"/>
            <a:ext cx="99150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the foundation of a respectful and effective workplace environment.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key aspect of professional etiquette is mastering the art of </a:t>
            </a: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Talk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engaging in polite, light conversation that builds rapport and connection.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talk helps </a:t>
            </a: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the ice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ease communication barriers, and create a </a:t>
            </a: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comfortable atmosphere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colleagues and clients.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demonstrates </a:t>
            </a: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emotional intelligence, attentiveness, and interpersonal awareness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2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5"/>
          <p:cNvCxnSpPr/>
          <p:nvPr/>
        </p:nvCxnSpPr>
        <p:spPr>
          <a:xfrm>
            <a:off x="914400" y="162729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32" name="Google Shape;1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835c7905_0_39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1835c7905_0_39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done appropriately, it helps in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trust, teamwork, and long-term professional relationships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 small talk also enhances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confidence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supports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organizational culture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essence, small talk is not “small” — it’s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powerful communication tool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building positive connections in the corporate world.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a1835c7905_0_39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Importance of Small Talk</a:t>
            </a:r>
            <a:endParaRPr/>
          </a:p>
        </p:txBody>
      </p:sp>
      <p:sp>
        <p:nvSpPr>
          <p:cNvPr id="146" name="Google Shape;146;p46"/>
          <p:cNvSpPr txBox="1"/>
          <p:nvPr>
            <p:ph idx="1" type="body"/>
          </p:nvPr>
        </p:nvSpPr>
        <p:spPr>
          <a:xfrm>
            <a:off x="914400" y="1788400"/>
            <a:ext cx="9915000" cy="48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rapport and trust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colleagues and clients.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collaboration and open communication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friendly and inclusive work environment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Acts as an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ice-breaker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meetings, interviews, and networking events.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the development of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emotional and social intelligence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46"/>
          <p:cNvCxnSpPr/>
          <p:nvPr/>
        </p:nvCxnSpPr>
        <p:spPr>
          <a:xfrm>
            <a:off x="1035385" y="168271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48" name="Google Shape;14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835c7905_0_47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Key Principles of Corporate Small Talk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a1835c7905_0_47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it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light, positive, and inclusive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genuine interest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others through active listening.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 boundaries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avoid controversial topics.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respectful of time and space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during casual interactions.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appropriate tone, body language, and facial expressions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a1835c7905_0_47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7" name="Google Shape;157;g3a1835c7905_0_47"/>
          <p:cNvCxnSpPr/>
          <p:nvPr/>
        </p:nvCxnSpPr>
        <p:spPr>
          <a:xfrm flipH="1" rot="10800000">
            <a:off x="1035385" y="1640714"/>
            <a:ext cx="9650700" cy="420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Topics Suitable for Small Talk</a:t>
            </a:r>
            <a:endParaRPr/>
          </a:p>
        </p:txBody>
      </p:sp>
      <p:sp>
        <p:nvSpPr>
          <p:cNvPr id="163" name="Google Shape;163;p4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Weather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Hobbies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Travel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Food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Workplace</a:t>
            </a:r>
            <a:endParaRPr/>
          </a:p>
        </p:txBody>
      </p:sp>
      <p:cxnSp>
        <p:nvCxnSpPr>
          <p:cNvPr id="164" name="Google Shape;164;p47"/>
          <p:cNvCxnSpPr/>
          <p:nvPr/>
        </p:nvCxnSpPr>
        <p:spPr>
          <a:xfrm>
            <a:off x="1021530" y="164115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65" name="Google Shape;16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Topics to Avoid</a:t>
            </a:r>
            <a:endParaRPr/>
          </a:p>
        </p:txBody>
      </p:sp>
      <p:sp>
        <p:nvSpPr>
          <p:cNvPr id="171" name="Google Shape;171;p4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Politics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Religion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Salary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Gossip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Personal matters</a:t>
            </a:r>
            <a:endParaRPr/>
          </a:p>
        </p:txBody>
      </p:sp>
      <p:cxnSp>
        <p:nvCxnSpPr>
          <p:cNvPr id="172" name="Google Shape;172;p48"/>
          <p:cNvCxnSpPr/>
          <p:nvPr/>
        </p:nvCxnSpPr>
        <p:spPr>
          <a:xfrm>
            <a:off x="914400" y="16272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73" name="Google Shape;17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Do’s of Small Talk</a:t>
            </a:r>
            <a:endParaRPr/>
          </a:p>
        </p:txBody>
      </p:sp>
      <p:sp>
        <p:nvSpPr>
          <p:cNvPr id="179" name="Google Shape;179;p49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Smile and make eye contact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Listen actively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Be positive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Ask open-ended questions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Respect opinions</a:t>
            </a:r>
            <a:endParaRPr/>
          </a:p>
        </p:txBody>
      </p:sp>
      <p:cxnSp>
        <p:nvCxnSpPr>
          <p:cNvPr id="180" name="Google Shape;180;p49"/>
          <p:cNvCxnSpPr/>
          <p:nvPr/>
        </p:nvCxnSpPr>
        <p:spPr>
          <a:xfrm>
            <a:off x="914400" y="1613442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81" name="Google Shape;18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Don’ts of Small Talk</a:t>
            </a:r>
            <a:endParaRPr/>
          </a:p>
        </p:txBody>
      </p:sp>
      <p:sp>
        <p:nvSpPr>
          <p:cNvPr id="187" name="Google Shape;187;p5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Interrupt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Overshare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Use slang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Judge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Force talk</a:t>
            </a:r>
            <a:endParaRPr/>
          </a:p>
        </p:txBody>
      </p:sp>
      <p:cxnSp>
        <p:nvCxnSpPr>
          <p:cNvPr id="188" name="Google Shape;188;p50"/>
          <p:cNvCxnSpPr/>
          <p:nvPr/>
        </p:nvCxnSpPr>
        <p:spPr>
          <a:xfrm>
            <a:off x="914400" y="165500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89" name="Google Shape;18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1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Steps to Effective Small Talk</a:t>
            </a:r>
            <a:endParaRPr/>
          </a:p>
        </p:txBody>
      </p:sp>
      <p:sp>
        <p:nvSpPr>
          <p:cNvPr id="195" name="Google Shape;195;p51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Start with greeting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Find common ground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Show interest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Listen attentively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Exit gracefully</a:t>
            </a:r>
            <a:endParaRPr/>
          </a:p>
        </p:txBody>
      </p:sp>
      <p:cxnSp>
        <p:nvCxnSpPr>
          <p:cNvPr id="196" name="Google Shape;196;p51"/>
          <p:cNvCxnSpPr/>
          <p:nvPr/>
        </p:nvCxnSpPr>
        <p:spPr>
          <a:xfrm>
            <a:off x="914400" y="1724279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97" name="Google Shape;19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2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Body Language Tips</a:t>
            </a:r>
            <a:endParaRPr/>
          </a:p>
        </p:txBody>
      </p:sp>
      <p:sp>
        <p:nvSpPr>
          <p:cNvPr id="203" name="Google Shape;203;p52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Eye contact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Gentle gestures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Nod and smile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Relaxed posture</a:t>
            </a:r>
            <a:endParaRPr/>
          </a:p>
        </p:txBody>
      </p:sp>
      <p:cxnSp>
        <p:nvCxnSpPr>
          <p:cNvPr id="204" name="Google Shape;204;p52"/>
          <p:cNvCxnSpPr/>
          <p:nvPr/>
        </p:nvCxnSpPr>
        <p:spPr>
          <a:xfrm>
            <a:off x="914400" y="162729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05" name="Google Shape;20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Cultural Etiquette</a:t>
            </a:r>
            <a:endParaRPr/>
          </a:p>
        </p:txBody>
      </p:sp>
      <p:sp>
        <p:nvSpPr>
          <p:cNvPr id="211" name="Google Shape;211;p5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Respect norms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Adjust tone and gestures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Avoid stereotypes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Learn polite phrases</a:t>
            </a:r>
            <a:endParaRPr/>
          </a:p>
        </p:txBody>
      </p:sp>
      <p:cxnSp>
        <p:nvCxnSpPr>
          <p:cNvPr id="212" name="Google Shape;212;p53"/>
          <p:cNvCxnSpPr/>
          <p:nvPr/>
        </p:nvCxnSpPr>
        <p:spPr>
          <a:xfrm>
            <a:off x="896111" y="158573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13" name="Google Shape;21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Common Small Talk Starters</a:t>
            </a:r>
            <a:endParaRPr/>
          </a:p>
        </p:txBody>
      </p:sp>
      <p:sp>
        <p:nvSpPr>
          <p:cNvPr id="219" name="Google Shape;219;p5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“How was your weekend?”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“Great presentation!”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“Have you tried the new café?”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“Lovely weather today!”</a:t>
            </a:r>
            <a:endParaRPr/>
          </a:p>
        </p:txBody>
      </p:sp>
      <p:cxnSp>
        <p:nvCxnSpPr>
          <p:cNvPr id="220" name="Google Shape;220;p54"/>
          <p:cNvCxnSpPr/>
          <p:nvPr/>
        </p:nvCxnSpPr>
        <p:spPr>
          <a:xfrm>
            <a:off x="914400" y="161344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21" name="Google Shape;2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Role Play Activity</a:t>
            </a:r>
            <a:endParaRPr/>
          </a:p>
        </p:txBody>
      </p:sp>
      <p:sp>
        <p:nvSpPr>
          <p:cNvPr id="227" name="Google Shape;227;p5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Practice 2-minute small talk: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- Meeting a colleague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- Talking to a client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- Greeting a new employee</a:t>
            </a:r>
            <a:endParaRPr/>
          </a:p>
        </p:txBody>
      </p:sp>
      <p:cxnSp>
        <p:nvCxnSpPr>
          <p:cNvPr id="228" name="Google Shape;228;p55"/>
          <p:cNvCxnSpPr/>
          <p:nvPr/>
        </p:nvCxnSpPr>
        <p:spPr>
          <a:xfrm>
            <a:off x="914400" y="165500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29" name="Google Shape;2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/>
          </a:p>
        </p:txBody>
      </p:sp>
      <p:sp>
        <p:nvSpPr>
          <p:cNvPr id="235" name="Google Shape;235;p5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Icebreaker game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Group discussion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Video analysis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Peer feedback</a:t>
            </a:r>
            <a:endParaRPr/>
          </a:p>
        </p:txBody>
      </p:sp>
      <p:cxnSp>
        <p:nvCxnSpPr>
          <p:cNvPr id="236" name="Google Shape;236;p57"/>
          <p:cNvCxnSpPr/>
          <p:nvPr/>
        </p:nvCxnSpPr>
        <p:spPr>
          <a:xfrm>
            <a:off x="914400" y="162729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37" name="Google Shape;23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Reflection Question</a:t>
            </a:r>
            <a:endParaRPr/>
          </a:p>
        </p:txBody>
      </p:sp>
      <p:sp>
        <p:nvSpPr>
          <p:cNvPr id="243" name="Google Shape;243;p5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“Think about a time when small talk helped you connect with someone new.”</a:t>
            </a:r>
            <a:endParaRPr/>
          </a:p>
        </p:txBody>
      </p:sp>
      <p:cxnSp>
        <p:nvCxnSpPr>
          <p:cNvPr id="244" name="Google Shape;244;p58"/>
          <p:cNvCxnSpPr/>
          <p:nvPr/>
        </p:nvCxnSpPr>
        <p:spPr>
          <a:xfrm>
            <a:off x="914400" y="1599588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45" name="Google Shape;24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1835c7905_0_57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Ice-Breaker: “Find a Common Topic”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a1835c7905_0_57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Warm up participants and demonstrate the value of small talk.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Activity:</a:t>
            </a:r>
            <a:b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 up participants for 3 minutes.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pair finds </a:t>
            </a: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common interests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hobbies, movies, favorite food).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○"/>
            </a:pPr>
            <a:r>
              <a:t/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a1835c7905_0_57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4" name="Google Shape;254;g3a1835c7905_0_57"/>
          <p:cNvCxnSpPr/>
          <p:nvPr/>
        </p:nvCxnSpPr>
        <p:spPr>
          <a:xfrm>
            <a:off x="914400" y="1599588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55" name="Google Shape;255;g3a1835c7905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1835c7905_0_66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1835c7905_0_66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Afterward, they introduce each other to the group using these common points.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Builds rapport and shows how small talk leads to connection.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a1835c7905_0_66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dc logo png black (1).png" id="264" name="Google Shape;264;g3a1835c7905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1835c7905_0_73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Think–Pair–Share: What Makes Small Talk Effective?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a1835c7905_0_73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2500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Encourage reflection and critical thinking.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b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Think: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Individually, participants recall a time when small talk helped them in a professional or social setting.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Pair:</a:t>
            </a: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Discuss with a partner what made that interaction positive.</a:t>
            </a:r>
            <a:b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a1835c7905_0_73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3" name="Google Shape;273;g3a1835c7905_0_73"/>
          <p:cNvCxnSpPr>
            <a:endCxn id="270" idx="3"/>
          </p:cNvCxnSpPr>
          <p:nvPr/>
        </p:nvCxnSpPr>
        <p:spPr>
          <a:xfrm>
            <a:off x="1075956" y="1185868"/>
            <a:ext cx="9744300" cy="69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4" name="Google Shape;274;g3a1835c7905_0_73"/>
          <p:cNvCxnSpPr/>
          <p:nvPr/>
        </p:nvCxnSpPr>
        <p:spPr>
          <a:xfrm>
            <a:off x="1075950" y="2018038"/>
            <a:ext cx="4023300" cy="36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75" name="Google Shape;275;g3a1835c7905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1835c7905_0_83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Think–Pair–Share: What Makes Small </a:t>
            </a:r>
            <a:endParaRPr b="1"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Talk Effective?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a1835c7905_0_83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Volunteers share insights with the larger group.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Identifies effective verbal and non-verbal small talk strategies.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1835c7905_0_83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4" name="Google Shape;284;g3a1835c7905_0_83"/>
          <p:cNvCxnSpPr/>
          <p:nvPr/>
        </p:nvCxnSpPr>
        <p:spPr>
          <a:xfrm>
            <a:off x="1075956" y="905043"/>
            <a:ext cx="9744300" cy="69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g3a1835c7905_0_83"/>
          <p:cNvCxnSpPr/>
          <p:nvPr/>
        </p:nvCxnSpPr>
        <p:spPr>
          <a:xfrm flipH="1" rot="10800000">
            <a:off x="975500" y="1670175"/>
            <a:ext cx="2941200" cy="591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86" name="Google Shape;286;g3a1835c7905_0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9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92" name="Google Shape;292;p59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Dale Carnegie – How to Win Friends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Debra Fine – The Fine Art of Small Talk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HBR – Power of Small Talk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MindTools.com</a:t>
            </a:r>
            <a:endParaRPr/>
          </a:p>
        </p:txBody>
      </p:sp>
      <p:cxnSp>
        <p:nvCxnSpPr>
          <p:cNvPr id="293" name="Google Shape;293;p59"/>
          <p:cNvCxnSpPr/>
          <p:nvPr/>
        </p:nvCxnSpPr>
        <p:spPr>
          <a:xfrm>
            <a:off x="896111" y="159958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94" name="Google Shape;29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300" name="Google Shape;300;p6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https://www.youtube.com/watch?v=IRG-YubP1rw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https://youtu.be/UcVNwvpQm8A?si=pgqPIVHYAEmaaGPp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https://youtu.be/EoHlh9XGw3k?si=kO9A-amTgCfaV3Pi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https://youtu.be/CzdVJ7gXmsw?si=hT-i9R3y0LmW_8mb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https://youtu.be/ZcI2B92JlJU?si=fzfuAOlhVQp-7q8u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60"/>
          <p:cNvCxnSpPr/>
          <p:nvPr/>
        </p:nvCxnSpPr>
        <p:spPr>
          <a:xfrm>
            <a:off x="1063093" y="161344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302" name="Google Shape;30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08" name="Google Shape;308;p61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Small talk builds relationships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Be polite and positive.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Every conversation counts!</a:t>
            </a:r>
            <a:endParaRPr/>
          </a:p>
        </p:txBody>
      </p:sp>
      <p:cxnSp>
        <p:nvCxnSpPr>
          <p:cNvPr id="309" name="Google Shape;309;p61"/>
          <p:cNvCxnSpPr/>
          <p:nvPr/>
        </p:nvCxnSpPr>
        <p:spPr>
          <a:xfrm>
            <a:off x="914400" y="1641151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310" name="Google Shape;31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/>
          </a:p>
        </p:txBody>
      </p:sp>
      <p:sp>
        <p:nvSpPr>
          <p:cNvPr id="316" name="Google Shape;316;p4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session, learners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Exhibit polite conversational skills.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Demonstrate confidence.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Use positive body language.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Avoid inappropriate topics.</a:t>
            </a:r>
            <a:endParaRPr/>
          </a:p>
        </p:txBody>
      </p:sp>
      <p:cxnSp>
        <p:nvCxnSpPr>
          <p:cNvPr id="317" name="Google Shape;317;p44"/>
          <p:cNvCxnSpPr/>
          <p:nvPr/>
        </p:nvCxnSpPr>
        <p:spPr>
          <a:xfrm>
            <a:off x="914400" y="162729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318" name="Google Shape;31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325" name="Google Shape;3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