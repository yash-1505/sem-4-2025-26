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Abril Fatface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jnPlQ1RY+jnjInwuXmuXEvELe9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AbrilFatfac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823ebcd0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823ebcd0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1823ebcd0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1" showMasterSp="0">
  <p:cSld name="Abou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/>
          <p:nvPr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8"/>
          <p:cNvSpPr/>
          <p:nvPr/>
        </p:nvSpPr>
        <p:spPr>
          <a:xfrm>
            <a:off x="8991644" y="3657675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8"/>
          <p:cNvSpPr/>
          <p:nvPr/>
        </p:nvSpPr>
        <p:spPr>
          <a:xfrm rot="10800000">
            <a:off x="0" y="-5"/>
            <a:ext cx="2286000" cy="2285973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1160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8"/>
          <p:cNvSpPr/>
          <p:nvPr/>
        </p:nvSpPr>
        <p:spPr>
          <a:xfrm rot="5400000">
            <a:off x="-433923" y="554625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8"/>
          <p:cNvSpPr txBox="1"/>
          <p:nvPr>
            <p:ph type="title"/>
          </p:nvPr>
        </p:nvSpPr>
        <p:spPr>
          <a:xfrm>
            <a:off x="1371599" y="1478396"/>
            <a:ext cx="3710355" cy="34452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8"/>
          <p:cNvSpPr txBox="1"/>
          <p:nvPr>
            <p:ph idx="1" type="body"/>
          </p:nvPr>
        </p:nvSpPr>
        <p:spPr>
          <a:xfrm>
            <a:off x="5360465" y="1477963"/>
            <a:ext cx="5536135" cy="344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2pPr>
            <a:lvl3pPr indent="-3302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3pPr>
            <a:lvl4pPr indent="-3175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4pPr>
            <a:lvl5pPr indent="-3175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0" type="dt"/>
          </p:nvPr>
        </p:nvSpPr>
        <p:spPr>
          <a:xfrm>
            <a:off x="9323285" y="6434524"/>
            <a:ext cx="20678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0"/>
          <p:cNvSpPr txBox="1"/>
          <p:nvPr>
            <p:ph idx="11" type="ftr"/>
          </p:nvPr>
        </p:nvSpPr>
        <p:spPr>
          <a:xfrm>
            <a:off x="173736" y="6437376"/>
            <a:ext cx="37759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showMasterSp="0">
  <p:cSld name="1_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/>
          <p:nvPr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9"/>
          <p:cNvSpPr/>
          <p:nvPr/>
        </p:nvSpPr>
        <p:spPr>
          <a:xfrm rot="10800000">
            <a:off x="1" y="0"/>
            <a:ext cx="1745673" cy="877824"/>
          </a:xfrm>
          <a:custGeom>
            <a:rect b="b" l="l" r="r" t="t"/>
            <a:pathLst>
              <a:path extrusionOk="0" h="2285974" w="4572000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rgbClr val="87E1EB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9"/>
          <p:cNvSpPr/>
          <p:nvPr/>
        </p:nvSpPr>
        <p:spPr>
          <a:xfrm>
            <a:off x="8991644" y="3657688"/>
            <a:ext cx="3200357" cy="3200320"/>
          </a:xfrm>
          <a:custGeom>
            <a:rect b="b" l="l" r="r" t="t"/>
            <a:pathLst>
              <a:path extrusionOk="0" h="3200320" w="3200357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rgbClr val="0B40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9"/>
          <p:cNvSpPr txBox="1"/>
          <p:nvPr>
            <p:ph type="title"/>
          </p:nvPr>
        </p:nvSpPr>
        <p:spPr>
          <a:xfrm>
            <a:off x="1381748" y="246183"/>
            <a:ext cx="9525000" cy="19195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6069"/>
              </a:buClr>
              <a:buSzPts val="3600"/>
              <a:buFont typeface="Abril Fatface"/>
              <a:buNone/>
              <a:defRPr sz="3600">
                <a:solidFill>
                  <a:srgbClr val="11606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1"/>
          <p:cNvSpPr txBox="1"/>
          <p:nvPr>
            <p:ph type="ctrTitle"/>
          </p:nvPr>
        </p:nvSpPr>
        <p:spPr>
          <a:xfrm>
            <a:off x="1249326" y="919716"/>
            <a:ext cx="8504275" cy="3551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" type="subTitle"/>
          </p:nvPr>
        </p:nvSpPr>
        <p:spPr>
          <a:xfrm>
            <a:off x="1249326" y="4795284"/>
            <a:ext cx="8504275" cy="10845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 cap="none"/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0" name="Google Shape;40;p31"/>
          <p:cNvSpPr txBox="1"/>
          <p:nvPr>
            <p:ph idx="10" type="dt"/>
          </p:nvPr>
        </p:nvSpPr>
        <p:spPr>
          <a:xfrm>
            <a:off x="8964706" y="6433202"/>
            <a:ext cx="2426446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2" type="sldNum"/>
          </p:nvPr>
        </p:nvSpPr>
        <p:spPr>
          <a:xfrm>
            <a:off x="11391152" y="6433203"/>
            <a:ext cx="702781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1524000" y="1320800"/>
            <a:ext cx="9144000" cy="3095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Abril Fatface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1523999" y="4589463"/>
            <a:ext cx="9144001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" type="body"/>
          </p:nvPr>
        </p:nvSpPr>
        <p:spPr>
          <a:xfrm>
            <a:off x="1408813" y="2163725"/>
            <a:ext cx="4610986" cy="401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2" type="body"/>
          </p:nvPr>
        </p:nvSpPr>
        <p:spPr>
          <a:xfrm>
            <a:off x="6257260" y="2163725"/>
            <a:ext cx="4853763" cy="4013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3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3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34"/>
          <p:cNvSpPr txBox="1"/>
          <p:nvPr>
            <p:ph idx="2" type="body"/>
          </p:nvPr>
        </p:nvSpPr>
        <p:spPr>
          <a:xfrm>
            <a:off x="839788" y="2635623"/>
            <a:ext cx="5157787" cy="3554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 cap="none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34"/>
          <p:cNvSpPr txBox="1"/>
          <p:nvPr>
            <p:ph idx="4" type="body"/>
          </p:nvPr>
        </p:nvSpPr>
        <p:spPr>
          <a:xfrm>
            <a:off x="6172200" y="2635623"/>
            <a:ext cx="5183188" cy="3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4pPr>
            <a:lvl5pPr indent="-3302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4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5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  <a:defRPr sz="2800"/>
            </a:lvl2pPr>
            <a:lvl3pPr indent="-3810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4pPr>
            <a:lvl5pPr indent="-355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3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bril Fatfac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38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8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8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9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9"/>
          <p:cNvSpPr txBox="1"/>
          <p:nvPr>
            <p:ph idx="1" type="body"/>
          </p:nvPr>
        </p:nvSpPr>
        <p:spPr>
          <a:xfrm rot="5400000">
            <a:off x="3948184" y="-1113097"/>
            <a:ext cx="4133481" cy="10192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39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9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9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40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0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0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8844703" y="3732560"/>
            <a:ext cx="3352193" cy="3125440"/>
          </a:xfrm>
          <a:custGeom>
            <a:rect b="b" l="l" r="r" t="t"/>
            <a:pathLst>
              <a:path extrusionOk="0" h="3125440" w="3352193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7"/>
          <p:cNvSpPr txBox="1"/>
          <p:nvPr>
            <p:ph idx="11" type="ftr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  <a:defRPr b="0" i="0" sz="4000" u="none" cap="none" strike="noStrike">
                <a:solidFill>
                  <a:schemeClr val="accent2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7"/>
          <p:cNvSpPr txBox="1"/>
          <p:nvPr>
            <p:ph idx="1" type="body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7"/>
          <p:cNvSpPr txBox="1"/>
          <p:nvPr>
            <p:ph idx="10" type="dt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pos="4416">
          <p15:clr>
            <a:srgbClr val="F26B43"/>
          </p15:clr>
        </p15:guide>
        <p15:guide id="7" pos="5568">
          <p15:clr>
            <a:srgbClr val="F26B43"/>
          </p15:clr>
        </p15:guide>
        <p15:guide id="8" pos="7296">
          <p15:clr>
            <a:srgbClr val="F26B43"/>
          </p15:clr>
        </p15:guide>
        <p15:guide id="9" pos="2688">
          <p15:clr>
            <a:srgbClr val="F26B43"/>
          </p15:clr>
        </p15:guide>
        <p15:guide id="10" pos="1536">
          <p15:clr>
            <a:srgbClr val="F26B43"/>
          </p15:clr>
        </p15:guide>
        <p15:guide id="11" pos="384">
          <p15:clr>
            <a:srgbClr val="F26B43"/>
          </p15:clr>
        </p15:guide>
        <p15:guide id="12" pos="2112">
          <p15:clr>
            <a:srgbClr val="F26B43"/>
          </p15:clr>
        </p15:guide>
        <p15:guide id="13" pos="4992">
          <p15:clr>
            <a:srgbClr val="F26B43"/>
          </p15:clr>
        </p15:guide>
        <p15:guide id="14" pos="6720">
          <p15:clr>
            <a:srgbClr val="F26B43"/>
          </p15:clr>
        </p15:guide>
        <p15:guide id="15" pos="960">
          <p15:clr>
            <a:srgbClr val="F26B43"/>
          </p15:clr>
        </p15:guide>
        <p15:guide id="16" pos="3264">
          <p15:clr>
            <a:srgbClr val="F26B43"/>
          </p15:clr>
        </p15:guide>
        <p15:guide id="17" orient="horz" pos="1008">
          <p15:clr>
            <a:srgbClr val="F26B43"/>
          </p15:clr>
        </p15:guide>
        <p15:guide id="18" orient="horz" pos="3888">
          <p15:clr>
            <a:srgbClr val="F26B43"/>
          </p15:clr>
        </p15:guide>
        <p15:guide id="19" pos="6144">
          <p15:clr>
            <a:srgbClr val="F26B43"/>
          </p15:clr>
        </p15:guide>
        <p15:guide id="20" orient="horz" pos="1584">
          <p15:clr>
            <a:srgbClr val="F26B43"/>
          </p15:clr>
        </p15:guide>
        <p15:guide id="21" pos="576">
          <p15:clr>
            <a:srgbClr val="F26B43"/>
          </p15:clr>
        </p15:guide>
        <p15:guide id="22" pos="7104">
          <p15:clr>
            <a:srgbClr val="F26B43"/>
          </p15:clr>
        </p15:guide>
        <p15:guide id="23" pos="768">
          <p15:clr>
            <a:srgbClr val="F26B43"/>
          </p15:clr>
        </p15:guide>
        <p15:guide id="24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dc logo png black (1).png" id="105" name="Google Shape;1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7219" y="85343"/>
            <a:ext cx="2837725" cy="137703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/>
          <p:cNvSpPr/>
          <p:nvPr/>
        </p:nvSpPr>
        <p:spPr>
          <a:xfrm>
            <a:off x="914400" y="1444752"/>
            <a:ext cx="9464040" cy="6401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Corporate Etiquettes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Telephone Etiquette: Answering Calls, Taking Notes, Resolving Issues, and Small Talk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(Professional communication through effective phone handling)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Sem-4 Professional Grooming &amp; Personality Development (303193252) 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3"/>
          <p:cNvSpPr txBox="1"/>
          <p:nvPr>
            <p:ph idx="1" type="body"/>
          </p:nvPr>
        </p:nvSpPr>
        <p:spPr>
          <a:xfrm>
            <a:off x="914400" y="1919672"/>
            <a:ext cx="9914860" cy="445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the end of this session, students will be able to: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Define telephone etiquette and its importance.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Describe methods of answering and managing calls professionally.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Learn how to take notes, resolve issues, and maintain courtesy.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13" name="Google Shape;11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43"/>
          <p:cNvCxnSpPr/>
          <p:nvPr/>
        </p:nvCxnSpPr>
        <p:spPr>
          <a:xfrm>
            <a:off x="1012085" y="164346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823ebcd0_0_1"/>
          <p:cNvSpPr txBox="1"/>
          <p:nvPr>
            <p:ph type="title"/>
          </p:nvPr>
        </p:nvSpPr>
        <p:spPr>
          <a:xfrm>
            <a:off x="905256" y="590668"/>
            <a:ext cx="9915000" cy="1329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4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Topics to be Covered 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21" name="Google Shape;121;g3a1823ebcd0_0_1"/>
          <p:cNvSpPr txBox="1"/>
          <p:nvPr>
            <p:ph idx="1" type="body"/>
          </p:nvPr>
        </p:nvSpPr>
        <p:spPr>
          <a:xfrm>
            <a:off x="914400" y="1919673"/>
            <a:ext cx="9915000" cy="4123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Answering a Call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Play Activity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a1823ebcd0_0_1"/>
          <p:cNvSpPr txBox="1"/>
          <p:nvPr>
            <p:ph idx="12" type="sldNum"/>
          </p:nvPr>
        </p:nvSpPr>
        <p:spPr>
          <a:xfrm>
            <a:off x="11391152" y="6434524"/>
            <a:ext cx="693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3" name="Google Shape;123;g3a1823ebcd0_0_1"/>
          <p:cNvCxnSpPr/>
          <p:nvPr/>
        </p:nvCxnSpPr>
        <p:spPr>
          <a:xfrm>
            <a:off x="1012085" y="1643466"/>
            <a:ext cx="8211300" cy="183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24" name="Google Shape;124;g3a1823ebcd0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4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/>
          </a:p>
        </p:txBody>
      </p:sp>
      <p:sp>
        <p:nvSpPr>
          <p:cNvPr id="130" name="Google Shape;130;p44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Understand the role and goal of small talk in phone communication.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Demonstrate telephone professionalism through role-play exercises.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4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2" name="Google Shape;132;p44"/>
          <p:cNvCxnSpPr/>
          <p:nvPr/>
        </p:nvCxnSpPr>
        <p:spPr>
          <a:xfrm>
            <a:off x="1012085" y="164346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33" name="Google Shape;13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Importance of Telephone Etiquette</a:t>
            </a:r>
            <a:endParaRPr/>
          </a:p>
        </p:txBody>
      </p:sp>
      <p:sp>
        <p:nvSpPr>
          <p:cNvPr id="139" name="Google Shape;139;p4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Creates a positive first impression.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Builds trust and professionalism.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Enhances customer satisfaction and loyalty.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Prevents misunderstandings through clear communication.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Reflects personal and organizational image.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40" name="Google Shape;14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46"/>
          <p:cNvCxnSpPr/>
          <p:nvPr/>
        </p:nvCxnSpPr>
        <p:spPr>
          <a:xfrm>
            <a:off x="914400" y="1654618"/>
            <a:ext cx="9043639" cy="6267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7"/>
          <p:cNvSpPr txBox="1"/>
          <p:nvPr>
            <p:ph type="title"/>
          </p:nvPr>
        </p:nvSpPr>
        <p:spPr>
          <a:xfrm>
            <a:off x="659929" y="143174"/>
            <a:ext cx="9914859" cy="1338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Answering a Call – The Right Way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7"/>
          <p:cNvSpPr txBox="1"/>
          <p:nvPr>
            <p:ph idx="1" type="body"/>
          </p:nvPr>
        </p:nvSpPr>
        <p:spPr>
          <a:xfrm>
            <a:off x="659929" y="1720818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Steps: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Answer promptly within 3 rings.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Greet politely and introduce yourself and your organization.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Speak clearly with a pleasant tone.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Listen actively without interrupting.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End the call with appreciation and confirmation.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48" name="Google Shape;14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47"/>
          <p:cNvCxnSpPr/>
          <p:nvPr/>
        </p:nvCxnSpPr>
        <p:spPr>
          <a:xfrm>
            <a:off x="780585" y="1421022"/>
            <a:ext cx="8441473" cy="29216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8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Answering a Call – The Right Way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8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“Good morning! This is Priya from ABC Solutions. How may I assist you today?”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8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7" name="Google Shape;157;p48"/>
          <p:cNvCxnSpPr/>
          <p:nvPr/>
        </p:nvCxnSpPr>
        <p:spPr>
          <a:xfrm>
            <a:off x="896111" y="1599441"/>
            <a:ext cx="8441473" cy="29216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58" name="Google Shape;15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9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Taking Notes During Calls</a:t>
            </a:r>
            <a:endParaRPr/>
          </a:p>
        </p:txBody>
      </p:sp>
      <p:sp>
        <p:nvSpPr>
          <p:cNvPr id="164" name="Google Shape;164;p49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Keep a notepad and pen ready before answering.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Write key details: name, contact number, concern, and time.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Repeat important information for confirmation.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End the call by summarizing the next steps.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Effective note-taking ensures accuracy and accountability.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65" name="Google Shape;1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49"/>
          <p:cNvCxnSpPr/>
          <p:nvPr/>
        </p:nvCxnSpPr>
        <p:spPr>
          <a:xfrm>
            <a:off x="1023235" y="163231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0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Resolving Issues Over the Phone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0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Steps to Follow: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Listen actively – Understand the customer’s problem.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Empathize – Show concern and patience.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Clarify – Ask questions if needed.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Provide solutions or escalate appropriately.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5. Follow-up – Ensure the issue is resolved.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173" name="Google Shape;17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50"/>
          <p:cNvCxnSpPr/>
          <p:nvPr/>
        </p:nvCxnSpPr>
        <p:spPr>
          <a:xfrm>
            <a:off x="914400" y="1621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1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Resolving Issues Over the Phone</a:t>
            </a:r>
            <a:endParaRPr/>
          </a:p>
        </p:txBody>
      </p:sp>
      <p:sp>
        <p:nvSpPr>
          <p:cNvPr id="180" name="Google Shape;180;p51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“I understand your concern, Mr. Sharma. Let me check and get back to you within an hour.”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1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2" name="Google Shape;182;p51"/>
          <p:cNvCxnSpPr/>
          <p:nvPr/>
        </p:nvCxnSpPr>
        <p:spPr>
          <a:xfrm>
            <a:off x="914400" y="1621164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183" name="Google Shape;18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2"/>
          <p:cNvSpPr txBox="1"/>
          <p:nvPr>
            <p:ph type="title"/>
          </p:nvPr>
        </p:nvSpPr>
        <p:spPr>
          <a:xfrm>
            <a:off x="914400" y="31044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Small Talk – Its Goal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2"/>
          <p:cNvSpPr txBox="1"/>
          <p:nvPr>
            <p:ph idx="1" type="body"/>
          </p:nvPr>
        </p:nvSpPr>
        <p:spPr>
          <a:xfrm>
            <a:off x="914400" y="1639452"/>
            <a:ext cx="9914860" cy="4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Goal: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Build connection, comfort, and trust during the call.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Humanize professional interactions.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Respond: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Keep it short and positive.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Avoid personal or sensitive topics.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Example: “Yes, it’s been quite a busy week here too! How about you?”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90" name="Google Shape;19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52"/>
          <p:cNvCxnSpPr/>
          <p:nvPr/>
        </p:nvCxnSpPr>
        <p:spPr>
          <a:xfrm>
            <a:off x="1014761" y="136468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3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2592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5300">
                <a:latin typeface="Calibri"/>
                <a:ea typeface="Calibri"/>
                <a:cs typeface="Calibri"/>
                <a:sym typeface="Calibri"/>
              </a:rPr>
              <a:t>ole Play – Customer Executive &amp; Client</a:t>
            </a:r>
            <a:endParaRPr sz="5300"/>
          </a:p>
        </p:txBody>
      </p:sp>
      <p:sp>
        <p:nvSpPr>
          <p:cNvPr id="197" name="Google Shape;197;p53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Exercise: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Students perform a role play between a Customer Service Executive and a Client.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Scenario ideas: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Product inquiry call.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Complaint resolution.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Appointment scheduling.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Service feedback collection.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198" name="Google Shape;19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53"/>
          <p:cNvCxnSpPr/>
          <p:nvPr/>
        </p:nvCxnSpPr>
        <p:spPr>
          <a:xfrm flipH="1" rot="10800000">
            <a:off x="914400" y="1628078"/>
            <a:ext cx="9054790" cy="153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Engagement Strategies</a:t>
            </a:r>
            <a:endParaRPr/>
          </a:p>
        </p:txBody>
      </p:sp>
      <p:sp>
        <p:nvSpPr>
          <p:cNvPr id="205" name="Google Shape;205;p5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Group discussion: 'What makes a good telephone conversation?'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Role-play demonstrations and peer feedback.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Listening and response exercises.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Class poll: Identify best practices in phone etiquette.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206" name="Google Shape;20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55"/>
          <p:cNvCxnSpPr/>
          <p:nvPr/>
        </p:nvCxnSpPr>
        <p:spPr>
          <a:xfrm>
            <a:off x="914400" y="1643467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6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/>
          </a:p>
        </p:txBody>
      </p:sp>
      <p:sp>
        <p:nvSpPr>
          <p:cNvPr id="213" name="Google Shape;213;p56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1. Carnegie, D. (1990). How to Win Friends and Influence People.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2. Harvard Business Review: Effective Communication Skills.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3. MindTools: Telephone Etiquette Techniques.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4. Customer Service Training Manuals, 2024.</a:t>
            </a:r>
            <a:endParaRPr/>
          </a:p>
        </p:txBody>
      </p:sp>
      <p:pic>
        <p:nvPicPr>
          <p:cNvPr descr="cdc logo png black (1).png" id="214" name="Google Shape;21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5" name="Google Shape;215;p56"/>
          <p:cNvCxnSpPr/>
          <p:nvPr/>
        </p:nvCxnSpPr>
        <p:spPr>
          <a:xfrm>
            <a:off x="1012085" y="1610013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7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7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Telephone Etiquette Training Video – YouTube: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https://www.youtube.com/watch?v=2pKXK9B5GfE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Professional Phone Handling Skills – YouTube: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https://www.youtube.com/watch?v=ZkL1p7YcKjY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/>
          </a:p>
        </p:txBody>
      </p:sp>
      <p:pic>
        <p:nvPicPr>
          <p:cNvPr descr="cdc logo png black (1).png" id="222" name="Google Shape;22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3" name="Google Shape;223;p57"/>
          <p:cNvCxnSpPr/>
          <p:nvPr/>
        </p:nvCxnSpPr>
        <p:spPr>
          <a:xfrm>
            <a:off x="1023236" y="168807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8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Abril Fatface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/>
          </a:p>
        </p:txBody>
      </p:sp>
      <p:sp>
        <p:nvSpPr>
          <p:cNvPr id="229" name="Google Shape;229;p58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Effective Communication on Calls – YouTube: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https://www.youtube.com/watch?v=dQw4w9WgXcQ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Role Play: Customer Service Call – YouTube: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https://www.youtube.com/watch?v=9rW-dD7vCj0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8"/>
          <p:cNvSpPr txBox="1"/>
          <p:nvPr>
            <p:ph idx="12" type="sldNum"/>
          </p:nvPr>
        </p:nvSpPr>
        <p:spPr>
          <a:xfrm>
            <a:off x="11391152" y="6434524"/>
            <a:ext cx="69326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1" name="Google Shape;231;p58"/>
          <p:cNvCxnSpPr/>
          <p:nvPr/>
        </p:nvCxnSpPr>
        <p:spPr>
          <a:xfrm>
            <a:off x="1023236" y="1688072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cdc logo png black (1).png" id="232" name="Google Shape;23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5"/>
          <p:cNvSpPr txBox="1"/>
          <p:nvPr>
            <p:ph type="title"/>
          </p:nvPr>
        </p:nvSpPr>
        <p:spPr>
          <a:xfrm>
            <a:off x="905256" y="590668"/>
            <a:ext cx="9914859" cy="13290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5"/>
          <p:cNvSpPr txBox="1"/>
          <p:nvPr>
            <p:ph idx="1" type="body"/>
          </p:nvPr>
        </p:nvSpPr>
        <p:spPr>
          <a:xfrm>
            <a:off x="914400" y="1919673"/>
            <a:ext cx="9914860" cy="4123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After completing this topic, learners will be able to: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Handle professional calls effectively and courteously.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Record messages accurately through note-taking.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Resolve customer concerns calmly and efficiently.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Engage in appropriate small talk to build rapport.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Demonstrate professional conduct in telephonic scenarios.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dc logo png black (1).png" id="239" name="Google Shape;23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27914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45"/>
          <p:cNvCxnSpPr/>
          <p:nvPr/>
        </p:nvCxnSpPr>
        <p:spPr>
          <a:xfrm>
            <a:off x="914400" y="1632315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1371600" y="2274033"/>
            <a:ext cx="9525000" cy="331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4800"/>
              <a:buNone/>
            </a:pPr>
            <a:r>
              <a:rPr lang="en-US" sz="4800"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  <p:pic>
        <p:nvPicPr>
          <p:cNvPr descr="cdc logo png black (1).png" id="247" name="Google Shape;2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94976" y="18289"/>
            <a:ext cx="2023871" cy="9821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26"/>
          <p:cNvCxnSpPr/>
          <p:nvPr/>
        </p:nvCxnSpPr>
        <p:spPr>
          <a:xfrm>
            <a:off x="1536192" y="996696"/>
            <a:ext cx="8211312" cy="1828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OverlayVTI">
  <a:themeElements>
    <a:clrScheme name="Custom 50">
      <a:dk1>
        <a:srgbClr val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2024-01-11T09:03:24Z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